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proyecto no es un sistema clínico y no gestiona historiales de salud. Aborda un problema de coordinación más acotado pero real: convertir el tiempo disponible en centros de cuidado — un hospital, pero también una residencia, un centro de día, un hospital de día, un centro ocupacional o una unidad de cuidados paliativos — y las ofertas culturales en eventos públicos seguros y trazables.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diferenciador no es inventar cultura en entornos de cuidado. Es modelar la capa de coordinación que conecta un hueco disponible en un centro con propuestas de actividad que compiten, preservando gobernanza y confidencialidad.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central no es deliberadamente 'primero que llega'. Un Slot puede tener varias propuestas y el centro propietario elige la que mejor encaja en su contexto — la misma regla para un hospital, una residencia o una unidad de paliativos.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alcance es intencionadamente secuencial. Un núcleo completo y demostrable es más defendible que varios módulos a medias. Los pagos reales quedan explícitamente fuera; el bloque simulado modela solo un límite de adaptador. La generalización a seis tipos de centro está mergeada y desplegada; la revisión nativa de euskera y el reseed de producción siguen pendientes.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elige simplicidad intencionada. Microservicios o Kubernetes añadirían complejidad de despliegue y observabilidad sin mejorar este flujo. Las sesiones se eligen porque la gobernanza exige revocación, no porque JWT sea inherentemente incorrecto.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prueba arquitectónica es simple: las reglas de negocio deben seguir siendo testeables si reemplazamos Prisma o el framework de entrega. La afirmación graduable más fuerte del proyecto vive aquí: como rol y tipo de centro son ejes separados, ampliar de un tipo de centro a seis tocó el eje de datos y el copy, pero no la superficie de autorización — el predicado de seguridad siguió siendo un único literal, type: 'CENTRE', nunca una lista de seis valores.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estados explícitos hacen visibles los caminos inválidos. Por ejemplo, una Propuesta terminal no puede volver a aceptarse, y un Perfil no activo no puede ejecutar sus acciones de rol. El estado 'completed' del Evento es una costura deliberada para el Bloque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clave vino de una revisión adversarial: bloquear después de una decisión es demasiado tarde. Una propuesta concurrente podría sobrevivir en un Slot filled. El contrato se implementa como SELECT … FOR UPDATE sobre la fila del Slot antes de cualquier lectura que informe la decisión, y está probado — nueve escenarios de carrera forzados con barreras explícitas en ambos órdenes, ejecutados contra PostgreSQL real en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especificación no es documentación escrita al final. Es el contrato usado para decidir qué debe implementarse y, tan importante como eso, qué no debe afirmarse todavía.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valor de la IA es aceleración con restricciones, no corrección automática. El proyecto trata la salida generada como una entrada a un proceso de ingeniería revisable, no como evidencia por sí misma.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diferenciador central del proyecto. El proceso de revisión no oculta defectos. Los convierte en cambios de diseño explícitos o en compuertas de release. Los hallazgos de dominio y hardening que la revisión dejó abiertos ahora están cerrados y en revisión.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TDD estricto selectivo se enfoca en las reglas más valiosas: transiciones de estado e invariantes de negocio. Los dobles en memoria prueban orquestación pero no un row lock o un rollback — por eso la evidencia de concurrencia viene de PostgreSQL real en CI. Localmente estos tests de carrera se saltan por defecto; CI con un Postgres local es el registro autoritativo. Refrescá los recuentos exactos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seguridad es arquitectura e implementación. Los controles que una revisión anterior del threat model llamó pendientes — el DTO público en runtime, CSRF en cada ruta, el adaptador de sesión, el rate limiting atómico — están integrados y cada uno cita un test que se ejecutó. Los headers, el CSP con nonce y el escaneo de dependencias ahora están implementados (PR #32, en revisión). Lo que sigue sin estar es el logging de seguridad. Es un MVP defendible, no un servicio listo para internet, y el threat model lo dice control por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cadena no es aspiracional: e2e/demo-chain.spec.ts automatiza exactamente estos seis pasos y pasó en CI contra PostgreSQL real y datos semilla, y un test compañero afirma que la respuesta pública contiene solo los campos permitidos. Decidí cómo correr la demo el día: o grabás una de antemano identificada como grabada y con la misma revisión desplegada, o la hacés en vivo siendo explícito de que CI es el registro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deliberadamente explícita, y la columna del medio es la honesta. Un TFM defendible no convierte una decisión de diseño en una garantía de producción — pero tampoco debe infravalorar la evidencia que existe. El núcleo está desplegado y sus propiedades de concurrencia, autorización y minimización de datos están probadas por tests que se ejecutaron. El siguiente hito es logging y observabilidad, no alcance de features. Si el repo sigue privado, decilo abiertamente.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deja puntos de extensión, pero extender no es licencia para saltar la seguridad. Pagos, integraciones externas y features más ricas de cara al paciente requieren cada una su propio modelado de amenazas antes de implementarse.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aprendizaje principal no es una elección de framework. Es la disciplina de tratar las reglas de negocio, las restricciones de seguridad y la evidencia de verificación como parte del producto. Gracias — las preguntas son bienvenidas.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B2D"/>
        </a:solidFill>
      </p:bgPr>
    </p:bg>
    <p:spTree>
      <p:nvGrpSpPr>
        <p:cNvPr id="1" name=""/>
        <p:cNvGrpSpPr/>
        <p:nvPr/>
      </p:nvGrpSpPr>
      <p:grpSpPr>
        <a:xfrm>
          <a:off x="0" y="0"/>
          <a:ext cx="0" cy="0"/>
          <a:chOff x="0" y="0"/>
          <a:chExt cx="0" cy="0"/>
        </a:xfrm>
      </p:grpSpPr>
      <p:sp>
        <p:nvSpPr>
          <p:cNvPr id="2" name="Shape 0"/>
          <p:cNvSpPr/>
          <p:nvPr/>
        </p:nvSpPr>
        <p:spPr>
          <a:xfrm>
            <a:off x="640080" y="1371600"/>
            <a:ext cx="164592" cy="164592"/>
          </a:xfrm>
          <a:prstGeom prst="ellipse">
            <a:avLst/>
          </a:prstGeom>
          <a:solidFill>
            <a:srgbClr val="84B59F"/>
          </a:solidFill>
          <a:ln/>
        </p:spPr>
      </p:sp>
      <p:sp>
        <p:nvSpPr>
          <p:cNvPr id="3" name="Shape 1"/>
          <p:cNvSpPr/>
          <p:nvPr/>
        </p:nvSpPr>
        <p:spPr>
          <a:xfrm>
            <a:off x="932688" y="1371600"/>
            <a:ext cx="164592" cy="164592"/>
          </a:xfrm>
          <a:prstGeom prst="ellipse">
            <a:avLst/>
          </a:prstGeom>
          <a:solidFill>
            <a:srgbClr val="69A297"/>
          </a:solidFill>
          <a:ln/>
        </p:spPr>
      </p:sp>
      <p:sp>
        <p:nvSpPr>
          <p:cNvPr id="4" name="Shape 2"/>
          <p:cNvSpPr/>
          <p:nvPr/>
        </p:nvSpPr>
        <p:spPr>
          <a:xfrm>
            <a:off x="1225296" y="1371600"/>
            <a:ext cx="164592" cy="164592"/>
          </a:xfrm>
          <a:prstGeom prst="ellipse">
            <a:avLst/>
          </a:prstGeom>
          <a:solidFill>
            <a:srgbClr val="50808E"/>
          </a:solidFill>
          <a:ln/>
        </p:spPr>
      </p:sp>
      <p:sp>
        <p:nvSpPr>
          <p:cNvPr id="5" name="Text 3"/>
          <p:cNvSpPr/>
          <p:nvPr/>
        </p:nvSpPr>
        <p:spPr>
          <a:xfrm>
            <a:off x="640080" y="1828800"/>
            <a:ext cx="10881360" cy="320040"/>
          </a:xfrm>
          <a:prstGeom prst="rect">
            <a:avLst/>
          </a:prstGeom>
          <a:noFill/>
          <a:ln/>
        </p:spPr>
        <p:txBody>
          <a:bodyPr wrap="square" lIns="0" tIns="0" rIns="0" bIns="0" rtlCol="0" anchor="ctr"/>
          <a:lstStyle/>
          <a:p>
            <a:pPr indent="0" marL="0">
              <a:buNone/>
            </a:pPr>
            <a:r>
              <a:rPr lang="en-US" sz="1300" b="1" spc="300" kern="0" dirty="0">
                <a:solidFill>
                  <a:srgbClr val="84B59F"/>
                </a:solidFill>
                <a:latin typeface="Calibri" pitchFamily="34" charset="0"/>
                <a:ea typeface="Calibri" pitchFamily="34" charset="-122"/>
                <a:cs typeface="Calibri" pitchFamily="34" charset="-120"/>
              </a:rPr>
              <a:t>VIVETUTIEMPO — TRABAJO FIN DE MÁSTER</a:t>
            </a:r>
            <a:endParaRPr lang="en-US" sz="1300" dirty="0"/>
          </a:p>
        </p:txBody>
      </p:sp>
      <p:sp>
        <p:nvSpPr>
          <p:cNvPr id="6" name="Text 4"/>
          <p:cNvSpPr/>
          <p:nvPr/>
        </p:nvSpPr>
        <p:spPr>
          <a:xfrm>
            <a:off x="640080" y="2240280"/>
            <a:ext cx="1088136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Todo el tiempo cuenta</a:t>
            </a:r>
            <a:endParaRPr lang="en-US" sz="5200" dirty="0"/>
          </a:p>
        </p:txBody>
      </p:sp>
      <p:sp>
        <p:nvSpPr>
          <p:cNvPr id="7" name="Text 5"/>
          <p:cNvSpPr/>
          <p:nvPr/>
        </p:nvSpPr>
        <p:spPr>
          <a:xfrm>
            <a:off x="640080" y="3383280"/>
            <a:ext cx="8778240" cy="731520"/>
          </a:xfrm>
          <a:prstGeom prst="rect">
            <a:avLst/>
          </a:prstGeom>
          <a:noFill/>
          <a:ln/>
        </p:spPr>
        <p:txBody>
          <a:bodyPr wrap="square" lIns="0" tIns="0" rIns="0" bIns="0" rtlCol="0" anchor="ctr"/>
          <a:lstStyle/>
          <a:p>
            <a:pPr indent="0" marL="0">
              <a:lnSpc>
                <a:spcPct val="110000"/>
              </a:lnSpc>
              <a:buNone/>
            </a:pPr>
            <a:r>
              <a:rPr lang="en-US" sz="1800" dirty="0">
                <a:solidFill>
                  <a:srgbClr val="CFE3DC"/>
                </a:solidFill>
                <a:latin typeface="Calibri" pitchFamily="34" charset="0"/>
                <a:ea typeface="Calibri" pitchFamily="34" charset="-122"/>
                <a:cs typeface="Calibri" pitchFamily="34" charset="-120"/>
              </a:rPr>
              <a:t>Coordinación segura de actividades culturales en centros de cuidado — hospitales y cinco tipos más.</a:t>
            </a:r>
            <a:endParaRPr lang="en-US" sz="1800" dirty="0"/>
          </a:p>
        </p:txBody>
      </p:sp>
      <p:sp>
        <p:nvSpPr>
          <p:cNvPr id="8" name="Text 6"/>
          <p:cNvSpPr/>
          <p:nvPr/>
        </p:nvSpPr>
        <p:spPr>
          <a:xfrm>
            <a:off x="640080" y="4480560"/>
            <a:ext cx="10881360" cy="457200"/>
          </a:xfrm>
          <a:prstGeom prst="rect">
            <a:avLst/>
          </a:prstGeom>
          <a:noFill/>
          <a:ln/>
        </p:spPr>
        <p:txBody>
          <a:bodyPr wrap="square" lIns="0" tIns="0" rIns="0" bIns="0" rtlCol="0" anchor="ctr"/>
          <a:lstStyle/>
          <a:p>
            <a:pPr indent="0" marL="0">
              <a:buNone/>
            </a:pPr>
            <a:r>
              <a:rPr lang="en-US" sz="1500" b="1" dirty="0">
                <a:solidFill>
                  <a:srgbClr val="69A297"/>
                </a:solidFill>
                <a:latin typeface="Calibri" pitchFamily="34" charset="0"/>
                <a:ea typeface="Calibri" pitchFamily="34" charset="-122"/>
                <a:cs typeface="Calibri" pitchFamily="34" charset="-120"/>
              </a:rPr>
              <a:t>Centro  →  Artista  →  Decisión  →  Evento publicado  →  Personas y familias</a:t>
            </a:r>
            <a:endParaRPr lang="en-US" sz="1500" dirty="0"/>
          </a:p>
        </p:txBody>
      </p:sp>
      <p:sp>
        <p:nvSpPr>
          <p:cNvPr id="9" name="Text 7"/>
          <p:cNvSpPr/>
          <p:nvPr/>
        </p:nvSpPr>
        <p:spPr>
          <a:xfrm>
            <a:off x="640080" y="5852160"/>
            <a:ext cx="10881360" cy="365760"/>
          </a:xfrm>
          <a:prstGeom prst="rect">
            <a:avLst/>
          </a:prstGeom>
          <a:noFill/>
          <a:ln/>
        </p:spPr>
        <p:txBody>
          <a:bodyPr wrap="square" lIns="0" tIns="0" rIns="0" bIns="0" rtlCol="0" anchor="ctr"/>
          <a:lstStyle/>
          <a:p>
            <a:pPr indent="0" marL="0">
              <a:buNone/>
            </a:pPr>
            <a:r>
              <a:rPr lang="en-US" sz="1300" i="1" dirty="0">
                <a:solidFill>
                  <a:srgbClr val="9FB4AF"/>
                </a:solidFill>
                <a:latin typeface="Calibri" pitchFamily="34" charset="0"/>
                <a:ea typeface="Calibri" pitchFamily="34" charset="-122"/>
                <a:cs typeface="Calibri" pitchFamily="34" charset="-120"/>
              </a:rPr>
              <a:t>[AUTOR] · Máster [programa] · Curso [año] · Tutor/a [nombre]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EL PROBLEMA</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El tiempo disponible requiere coordinación, no solo buenas ideas</a:t>
            </a:r>
            <a:endParaRPr lang="en-US" sz="3000" dirty="0"/>
          </a:p>
        </p:txBody>
      </p:sp>
      <p:sp>
        <p:nvSpPr>
          <p:cNvPr id="4" name="Text 2"/>
          <p:cNvSpPr/>
          <p:nvPr/>
        </p:nvSpPr>
        <p:spPr>
          <a:xfrm>
            <a:off x="640080" y="1965960"/>
            <a:ext cx="6309360" cy="4023360"/>
          </a:xfrm>
          <a:prstGeom prst="rect">
            <a:avLst/>
          </a:prstGeom>
          <a:noFill/>
          <a:ln/>
        </p:spPr>
        <p:txBody>
          <a:bodyPr wrap="square" lIns="0" tIns="0" rIns="0" bIns="0" rtlCol="0" anchor="t"/>
          <a:lstStyle/>
          <a:p>
            <a:pPr marL="203200" indent="-203200">
              <a:spcAft>
                <a:spcPts val="1400"/>
              </a:spcAft>
              <a:buSzPct val="100000"/>
              <a:buChar char="•"/>
            </a:pPr>
            <a:r>
              <a:rPr lang="en-US" sz="1550" dirty="0">
                <a:solidFill>
                  <a:srgbClr val="22302F"/>
                </a:solidFill>
                <a:latin typeface="Calibri" pitchFamily="34" charset="0"/>
                <a:ea typeface="Calibri" pitchFamily="34" charset="-122"/>
                <a:cs typeface="Calibri" pitchFamily="34" charset="-120"/>
              </a:rPr>
              <a:t>Las personas en centros de cuidado — y sus familias — pasan largos periodos esperando, acompañando o recuperándose.</a:t>
            </a:r>
            <a:endParaRPr lang="en-US" sz="1550" dirty="0"/>
          </a:p>
          <a:p>
            <a:pPr marL="203200" indent="-203200">
              <a:spcAft>
                <a:spcPts val="1400"/>
              </a:spcAft>
              <a:buSzPct val="100000"/>
              <a:buChar char="•"/>
            </a:pPr>
            <a:r>
              <a:rPr lang="en-US" sz="1550" dirty="0">
                <a:solidFill>
                  <a:srgbClr val="22302F"/>
                </a:solidFill>
                <a:latin typeface="Calibri" pitchFamily="34" charset="0"/>
                <a:ea typeface="Calibri" pitchFamily="34" charset="-122"/>
                <a:cs typeface="Calibri" pitchFamily="34" charset="-120"/>
              </a:rPr>
              <a:t>Las actividades culturales y humanas pueden mejorar esa experiencia.</a:t>
            </a:r>
            <a:endParaRPr lang="en-US" sz="1550" dirty="0"/>
          </a:p>
          <a:p>
            <a:pPr marL="203200" indent="-203200">
              <a:spcAft>
                <a:spcPts val="1400"/>
              </a:spcAft>
              <a:buSzPct val="100000"/>
              <a:buChar char="•"/>
            </a:pPr>
            <a:r>
              <a:rPr lang="en-US" sz="1550" dirty="0">
                <a:solidFill>
                  <a:srgbClr val="22302F"/>
                </a:solidFill>
                <a:latin typeface="Calibri" pitchFamily="34" charset="0"/>
                <a:ea typeface="Calibri" pitchFamily="34" charset="-122"/>
                <a:cs typeface="Calibri" pitchFamily="34" charset="-120"/>
              </a:rPr>
              <a:t>Lo difícil es la coordinación operativa: disponibilidad, propuestas, aprobación, gobernanza y comunicación pública segura.</a:t>
            </a:r>
            <a:endParaRPr lang="en-US" sz="1550" dirty="0"/>
          </a:p>
          <a:p>
            <a:pPr marL="203200" indent="-203200">
              <a:spcAft>
                <a:spcPts val="1400"/>
              </a:spcAft>
              <a:buSzPct val="100000"/>
              <a:buChar char="•"/>
            </a:pPr>
            <a:r>
              <a:rPr lang="en-US" sz="1550" dirty="0">
                <a:solidFill>
                  <a:srgbClr val="22302F"/>
                </a:solidFill>
                <a:latin typeface="Calibri" pitchFamily="34" charset="0"/>
                <a:ea typeface="Calibri" pitchFamily="34" charset="-122"/>
                <a:cs typeface="Calibri" pitchFamily="34" charset="-120"/>
              </a:rPr>
              <a:t>El contexto asistencial vuelve sensibles, por sí mismo, la ubicación, la identidad y los mensajes privados.</a:t>
            </a:r>
            <a:endParaRPr lang="en-US" sz="1550" dirty="0"/>
          </a:p>
        </p:txBody>
      </p:sp>
      <p:sp>
        <p:nvSpPr>
          <p:cNvPr id="5" name="Shape 3"/>
          <p:cNvSpPr/>
          <p:nvPr/>
        </p:nvSpPr>
        <p:spPr>
          <a:xfrm>
            <a:off x="7406640" y="2011680"/>
            <a:ext cx="4114800" cy="777240"/>
          </a:xfrm>
          <a:prstGeom prst="roundRect">
            <a:avLst>
              <a:gd name="adj" fmla="val 9412"/>
            </a:avLst>
          </a:prstGeom>
          <a:solidFill>
            <a:srgbClr val="FFFFFF"/>
          </a:solidFill>
          <a:ln/>
          <a:effectLst>
            <a:outerShdw sx="100000" sy="100000" kx="0" ky="0" algn="bl" rotWithShape="0" blurRad="101600" dist="38100" dir="5400000">
              <a:srgbClr val="9AA8A5">
                <a:alpha val="28000"/>
              </a:srgbClr>
            </a:outerShdw>
          </a:effectLst>
        </p:spPr>
      </p:sp>
      <p:sp>
        <p:nvSpPr>
          <p:cNvPr id="6" name="Text 4"/>
          <p:cNvSpPr/>
          <p:nvPr/>
        </p:nvSpPr>
        <p:spPr>
          <a:xfrm>
            <a:off x="7680960" y="2011680"/>
            <a:ext cx="3566160" cy="77724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Agenda del centro</a:t>
            </a:r>
            <a:endParaRPr lang="en-US" sz="1400" dirty="0"/>
          </a:p>
        </p:txBody>
      </p:sp>
      <p:sp>
        <p:nvSpPr>
          <p:cNvPr id="7" name="Shape 5"/>
          <p:cNvSpPr/>
          <p:nvPr/>
        </p:nvSpPr>
        <p:spPr>
          <a:xfrm>
            <a:off x="7406640" y="2971800"/>
            <a:ext cx="4114800" cy="777240"/>
          </a:xfrm>
          <a:prstGeom prst="roundRect">
            <a:avLst>
              <a:gd name="adj" fmla="val 9412"/>
            </a:avLst>
          </a:prstGeom>
          <a:solidFill>
            <a:srgbClr val="FFFFFF"/>
          </a:solidFill>
          <a:ln/>
          <a:effectLst>
            <a:outerShdw sx="100000" sy="100000" kx="0" ky="0" algn="bl" rotWithShape="0" blurRad="101600" dist="38100" dir="5400000">
              <a:srgbClr val="9AA8A5">
                <a:alpha val="28000"/>
              </a:srgbClr>
            </a:outerShdw>
          </a:effectLst>
        </p:spPr>
      </p:sp>
      <p:sp>
        <p:nvSpPr>
          <p:cNvPr id="8" name="Text 6"/>
          <p:cNvSpPr/>
          <p:nvPr/>
        </p:nvSpPr>
        <p:spPr>
          <a:xfrm>
            <a:off x="7680960" y="2971800"/>
            <a:ext cx="3566160" cy="77724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Oferta del artista</a:t>
            </a:r>
            <a:endParaRPr lang="en-US" sz="1400" dirty="0"/>
          </a:p>
        </p:txBody>
      </p:sp>
      <p:sp>
        <p:nvSpPr>
          <p:cNvPr id="9" name="Shape 7"/>
          <p:cNvSpPr/>
          <p:nvPr/>
        </p:nvSpPr>
        <p:spPr>
          <a:xfrm>
            <a:off x="7406640" y="3931920"/>
            <a:ext cx="4114800" cy="777240"/>
          </a:xfrm>
          <a:prstGeom prst="roundRect">
            <a:avLst>
              <a:gd name="adj" fmla="val 9412"/>
            </a:avLst>
          </a:prstGeom>
          <a:solidFill>
            <a:srgbClr val="FFFFFF"/>
          </a:solidFill>
          <a:ln/>
          <a:effectLst>
            <a:outerShdw sx="100000" sy="100000" kx="0" ky="0" algn="bl" rotWithShape="0" blurRad="101600" dist="38100" dir="5400000">
              <a:srgbClr val="9AA8A5">
                <a:alpha val="28000"/>
              </a:srgbClr>
            </a:outerShdw>
          </a:effectLst>
        </p:spPr>
      </p:sp>
      <p:sp>
        <p:nvSpPr>
          <p:cNvPr id="10" name="Text 8"/>
          <p:cNvSpPr/>
          <p:nvPr/>
        </p:nvSpPr>
        <p:spPr>
          <a:xfrm>
            <a:off x="7680960" y="3931920"/>
            <a:ext cx="3566160" cy="77724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Información pública</a:t>
            </a:r>
            <a:endParaRPr lang="en-US" sz="1400" dirty="0"/>
          </a:p>
        </p:txBody>
      </p:sp>
      <p:sp>
        <p:nvSpPr>
          <p:cNvPr id="11" name="Shape 9"/>
          <p:cNvSpPr/>
          <p:nvPr/>
        </p:nvSpPr>
        <p:spPr>
          <a:xfrm>
            <a:off x="7406640" y="5029200"/>
            <a:ext cx="4114800" cy="822960"/>
          </a:xfrm>
          <a:prstGeom prst="roundRect">
            <a:avLst>
              <a:gd name="adj" fmla="val 8889"/>
            </a:avLst>
          </a:prstGeom>
          <a:solidFill>
            <a:srgbClr val="2F4A4E"/>
          </a:solidFill>
          <a:ln/>
        </p:spPr>
      </p:sp>
      <p:sp>
        <p:nvSpPr>
          <p:cNvPr id="12" name="Text 10"/>
          <p:cNvSpPr/>
          <p:nvPr/>
        </p:nvSpPr>
        <p:spPr>
          <a:xfrm>
            <a:off x="7406640" y="5029200"/>
            <a:ext cx="411480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La capa de coordinación que falta</a:t>
            </a:r>
            <a:endParaRPr lang="en-US" sz="1500" dirty="0"/>
          </a:p>
        </p:txBody>
      </p:sp>
      <p:sp>
        <p:nvSpPr>
          <p:cNvPr id="13" name="Text 11"/>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LA SOLUCIÓN</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Vivetutiempo: del hueco de agenda al evento público</a:t>
            </a:r>
            <a:endParaRPr lang="en-US" sz="3000" dirty="0"/>
          </a:p>
        </p:txBody>
      </p:sp>
      <p:sp>
        <p:nvSpPr>
          <p:cNvPr id="4" name="Shape 2"/>
          <p:cNvSpPr/>
          <p:nvPr/>
        </p:nvSpPr>
        <p:spPr>
          <a:xfrm>
            <a:off x="640080" y="2011680"/>
            <a:ext cx="457200" cy="457200"/>
          </a:xfrm>
          <a:prstGeom prst="ellipse">
            <a:avLst/>
          </a:prstGeom>
          <a:solidFill>
            <a:srgbClr val="84B59F"/>
          </a:solidFill>
          <a:ln/>
        </p:spPr>
      </p:sp>
      <p:sp>
        <p:nvSpPr>
          <p:cNvPr id="5" name="Text 3"/>
          <p:cNvSpPr/>
          <p:nvPr/>
        </p:nvSpPr>
        <p:spPr>
          <a:xfrm>
            <a:off x="640080"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325880" y="1993392"/>
            <a:ext cx="6766560" cy="502920"/>
          </a:xfrm>
          <a:prstGeom prst="rect">
            <a:avLst/>
          </a:prstGeom>
          <a:noFill/>
          <a:ln/>
        </p:spPr>
        <p:txBody>
          <a:bodyPr wrap="square" lIns="0" tIns="0" rIns="0" bIns="0" rtlCol="0" anchor="ctr"/>
          <a:lstStyle/>
          <a:p>
            <a:pPr indent="0" marL="0">
              <a:buNone/>
            </a:pPr>
            <a:r>
              <a:rPr lang="en-US" sz="1550" dirty="0">
                <a:solidFill>
                  <a:srgbClr val="22302F"/>
                </a:solidFill>
                <a:latin typeface="Calibri" pitchFamily="34" charset="0"/>
                <a:ea typeface="Calibri" pitchFamily="34" charset="-122"/>
                <a:cs typeface="Calibri" pitchFamily="34" charset="-120"/>
              </a:rPr>
              <a:t>El centro publica un hueco de agenda (Slot).</a:t>
            </a:r>
            <a:endParaRPr lang="en-US" sz="1550" dirty="0"/>
          </a:p>
        </p:txBody>
      </p:sp>
      <p:sp>
        <p:nvSpPr>
          <p:cNvPr id="7" name="Shape 5"/>
          <p:cNvSpPr/>
          <p:nvPr/>
        </p:nvSpPr>
        <p:spPr>
          <a:xfrm>
            <a:off x="640080" y="2761488"/>
            <a:ext cx="457200" cy="457200"/>
          </a:xfrm>
          <a:prstGeom prst="ellipse">
            <a:avLst/>
          </a:prstGeom>
          <a:solidFill>
            <a:srgbClr val="84B59F"/>
          </a:solidFill>
          <a:ln/>
        </p:spPr>
      </p:sp>
      <p:sp>
        <p:nvSpPr>
          <p:cNvPr id="8" name="Text 6"/>
          <p:cNvSpPr/>
          <p:nvPr/>
        </p:nvSpPr>
        <p:spPr>
          <a:xfrm>
            <a:off x="640080" y="27614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325880" y="2743200"/>
            <a:ext cx="6766560" cy="502920"/>
          </a:xfrm>
          <a:prstGeom prst="rect">
            <a:avLst/>
          </a:prstGeom>
          <a:noFill/>
          <a:ln/>
        </p:spPr>
        <p:txBody>
          <a:bodyPr wrap="square" lIns="0" tIns="0" rIns="0" bIns="0" rtlCol="0" anchor="ctr"/>
          <a:lstStyle/>
          <a:p>
            <a:pPr indent="0" marL="0">
              <a:buNone/>
            </a:pPr>
            <a:r>
              <a:rPr lang="en-US" sz="1550" dirty="0">
                <a:solidFill>
                  <a:srgbClr val="22302F"/>
                </a:solidFill>
                <a:latin typeface="Calibri" pitchFamily="34" charset="0"/>
                <a:ea typeface="Calibri" pitchFamily="34" charset="-122"/>
                <a:cs typeface="Calibri" pitchFamily="34" charset="-120"/>
              </a:rPr>
              <a:t>Artistas activos envían propuestas que compiten.</a:t>
            </a:r>
            <a:endParaRPr lang="en-US" sz="1550" dirty="0"/>
          </a:p>
        </p:txBody>
      </p:sp>
      <p:sp>
        <p:nvSpPr>
          <p:cNvPr id="10" name="Shape 8"/>
          <p:cNvSpPr/>
          <p:nvPr/>
        </p:nvSpPr>
        <p:spPr>
          <a:xfrm>
            <a:off x="640080" y="3511296"/>
            <a:ext cx="457200" cy="457200"/>
          </a:xfrm>
          <a:prstGeom prst="ellipse">
            <a:avLst/>
          </a:prstGeom>
          <a:solidFill>
            <a:srgbClr val="50808E"/>
          </a:solidFill>
          <a:ln/>
        </p:spPr>
      </p:sp>
      <p:sp>
        <p:nvSpPr>
          <p:cNvPr id="11" name="Text 9"/>
          <p:cNvSpPr/>
          <p:nvPr/>
        </p:nvSpPr>
        <p:spPr>
          <a:xfrm>
            <a:off x="640080" y="35112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325880" y="3493008"/>
            <a:ext cx="6766560" cy="502920"/>
          </a:xfrm>
          <a:prstGeom prst="rect">
            <a:avLst/>
          </a:prstGeom>
          <a:noFill/>
          <a:ln/>
        </p:spPr>
        <p:txBody>
          <a:bodyPr wrap="square" lIns="0" tIns="0" rIns="0" bIns="0" rtlCol="0" anchor="ctr"/>
          <a:lstStyle/>
          <a:p>
            <a:pPr indent="0" marL="0">
              <a:buNone/>
            </a:pPr>
            <a:r>
              <a:rPr lang="en-US" sz="1550" dirty="0">
                <a:solidFill>
                  <a:srgbClr val="22302F"/>
                </a:solidFill>
                <a:latin typeface="Calibri" pitchFamily="34" charset="0"/>
                <a:ea typeface="Calibri" pitchFamily="34" charset="-122"/>
                <a:cs typeface="Calibri" pitchFamily="34" charset="-120"/>
              </a:rPr>
              <a:t>El centro propietario acepta una o rechaza.</a:t>
            </a:r>
            <a:endParaRPr lang="en-US" sz="1550" dirty="0"/>
          </a:p>
        </p:txBody>
      </p:sp>
      <p:sp>
        <p:nvSpPr>
          <p:cNvPr id="13" name="Shape 11"/>
          <p:cNvSpPr/>
          <p:nvPr/>
        </p:nvSpPr>
        <p:spPr>
          <a:xfrm>
            <a:off x="640080" y="4261104"/>
            <a:ext cx="457200" cy="457200"/>
          </a:xfrm>
          <a:prstGeom prst="ellipse">
            <a:avLst/>
          </a:prstGeom>
          <a:solidFill>
            <a:srgbClr val="84B59F"/>
          </a:solidFill>
          <a:ln/>
        </p:spPr>
      </p:sp>
      <p:sp>
        <p:nvSpPr>
          <p:cNvPr id="14" name="Text 12"/>
          <p:cNvSpPr/>
          <p:nvPr/>
        </p:nvSpPr>
        <p:spPr>
          <a:xfrm>
            <a:off x="640080" y="42611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325880" y="4242816"/>
            <a:ext cx="6766560" cy="502920"/>
          </a:xfrm>
          <a:prstGeom prst="rect">
            <a:avLst/>
          </a:prstGeom>
          <a:noFill/>
          <a:ln/>
        </p:spPr>
        <p:txBody>
          <a:bodyPr wrap="square" lIns="0" tIns="0" rIns="0" bIns="0" rtlCol="0" anchor="ctr"/>
          <a:lstStyle/>
          <a:p>
            <a:pPr indent="0" marL="0">
              <a:buNone/>
            </a:pPr>
            <a:r>
              <a:rPr lang="en-US" sz="1550" dirty="0">
                <a:solidFill>
                  <a:srgbClr val="22302F"/>
                </a:solidFill>
                <a:latin typeface="Calibri" pitchFamily="34" charset="0"/>
                <a:ea typeface="Calibri" pitchFamily="34" charset="-122"/>
                <a:cs typeface="Calibri" pitchFamily="34" charset="-120"/>
              </a:rPr>
              <a:t>La aceptación crea y publica un Evento.</a:t>
            </a:r>
            <a:endParaRPr lang="en-US" sz="1550" dirty="0"/>
          </a:p>
        </p:txBody>
      </p:sp>
      <p:sp>
        <p:nvSpPr>
          <p:cNvPr id="16" name="Shape 14"/>
          <p:cNvSpPr/>
          <p:nvPr/>
        </p:nvSpPr>
        <p:spPr>
          <a:xfrm>
            <a:off x="640080" y="5010912"/>
            <a:ext cx="457200" cy="457200"/>
          </a:xfrm>
          <a:prstGeom prst="ellipse">
            <a:avLst/>
          </a:prstGeom>
          <a:solidFill>
            <a:srgbClr val="84B59F"/>
          </a:solidFill>
          <a:ln/>
        </p:spPr>
      </p:sp>
      <p:sp>
        <p:nvSpPr>
          <p:cNvPr id="17" name="Text 15"/>
          <p:cNvSpPr/>
          <p:nvPr/>
        </p:nvSpPr>
        <p:spPr>
          <a:xfrm>
            <a:off x="640080" y="50109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325880" y="4992624"/>
            <a:ext cx="6766560" cy="502920"/>
          </a:xfrm>
          <a:prstGeom prst="rect">
            <a:avLst/>
          </a:prstGeom>
          <a:noFill/>
          <a:ln/>
        </p:spPr>
        <p:txBody>
          <a:bodyPr wrap="square" lIns="0" tIns="0" rIns="0" bIns="0" rtlCol="0" anchor="ctr"/>
          <a:lstStyle/>
          <a:p>
            <a:pPr indent="0" marL="0">
              <a:buNone/>
            </a:pPr>
            <a:r>
              <a:rPr lang="en-US" sz="1550" dirty="0">
                <a:solidFill>
                  <a:srgbClr val="22302F"/>
                </a:solidFill>
                <a:latin typeface="Calibri" pitchFamily="34" charset="0"/>
                <a:ea typeface="Calibri" pitchFamily="34" charset="-122"/>
                <a:cs typeface="Calibri" pitchFamily="34" charset="-120"/>
              </a:rPr>
              <a:t>Cualquiera navega los eventos publicados de forma anónima.</a:t>
            </a:r>
            <a:endParaRPr lang="en-US" sz="1550" dirty="0"/>
          </a:p>
        </p:txBody>
      </p:sp>
      <p:sp>
        <p:nvSpPr>
          <p:cNvPr id="19" name="Shape 17"/>
          <p:cNvSpPr/>
          <p:nvPr/>
        </p:nvSpPr>
        <p:spPr>
          <a:xfrm>
            <a:off x="7863840" y="2011680"/>
            <a:ext cx="3657600" cy="3474720"/>
          </a:xfrm>
          <a:prstGeom prst="roundRect">
            <a:avLst>
              <a:gd name="adj" fmla="val 2105"/>
            </a:avLst>
          </a:prstGeom>
          <a:solidFill>
            <a:srgbClr val="2F4A4E"/>
          </a:solidFill>
          <a:ln/>
        </p:spPr>
      </p:sp>
      <p:sp>
        <p:nvSpPr>
          <p:cNvPr id="20" name="Text 18"/>
          <p:cNvSpPr/>
          <p:nvPr/>
        </p:nvSpPr>
        <p:spPr>
          <a:xfrm>
            <a:off x="8138160" y="2286000"/>
            <a:ext cx="31089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No es orden de llegada</a:t>
            </a:r>
            <a:endParaRPr lang="en-US" sz="1900" dirty="0"/>
          </a:p>
        </p:txBody>
      </p:sp>
      <p:sp>
        <p:nvSpPr>
          <p:cNvPr id="21" name="Text 19"/>
          <p:cNvSpPr/>
          <p:nvPr/>
        </p:nvSpPr>
        <p:spPr>
          <a:xfrm>
            <a:off x="8138160" y="2834640"/>
            <a:ext cx="3108960" cy="2377440"/>
          </a:xfrm>
          <a:prstGeom prst="rect">
            <a:avLst/>
          </a:prstGeom>
          <a:noFill/>
          <a:ln/>
        </p:spPr>
        <p:txBody>
          <a:bodyPr wrap="square" lIns="0" tIns="0" rIns="0" bIns="0" rtlCol="0" anchor="ctr"/>
          <a:lstStyle/>
          <a:p>
            <a:pPr indent="0" marL="0">
              <a:lnSpc>
                <a:spcPct val="112000"/>
              </a:lnSpc>
              <a:buNone/>
            </a:pPr>
            <a:r>
              <a:rPr lang="en-US" sz="1400" dirty="0">
                <a:solidFill>
                  <a:srgbClr val="CFE3DC"/>
                </a:solidFill>
                <a:latin typeface="Calibri" pitchFamily="34" charset="0"/>
                <a:ea typeface="Calibri" pitchFamily="34" charset="-122"/>
                <a:cs typeface="Calibri" pitchFamily="34" charset="-120"/>
              </a:rPr>
              <a:t>Un hueco puede tener varias propuestas y el centro elige la que mejor encaja en su contexto — la misma regla para un hospital, una residencia o una unidad de paliativos.</a:t>
            </a:r>
            <a:endParaRPr lang="en-US" sz="1400" dirty="0"/>
          </a:p>
        </p:txBody>
      </p:sp>
      <p:sp>
        <p:nvSpPr>
          <p:cNvPr id="22" name="Text 20"/>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ALCANCE DEL MVP</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Profundidad antes que amplitud</a:t>
            </a:r>
            <a:endParaRPr lang="en-US" sz="3000" dirty="0"/>
          </a:p>
        </p:txBody>
      </p:sp>
      <p:sp>
        <p:nvSpPr>
          <p:cNvPr id="4" name="Shape 2"/>
          <p:cNvSpPr/>
          <p:nvPr/>
        </p:nvSpPr>
        <p:spPr>
          <a:xfrm>
            <a:off x="640080" y="1965960"/>
            <a:ext cx="10881360" cy="1170432"/>
          </a:xfrm>
          <a:prstGeom prst="roundRect">
            <a:avLst>
              <a:gd name="adj" fmla="val 6250"/>
            </a:avLst>
          </a:prstGeom>
          <a:solidFill>
            <a:srgbClr val="FFFFFF"/>
          </a:solidFill>
          <a:ln/>
          <a:effectLst>
            <a:outerShdw sx="100000" sy="100000" kx="0" ky="0" algn="bl" rotWithShape="0" blurRad="101600" dist="38100" dir="5400000">
              <a:srgbClr val="9AA8A5">
                <a:alpha val="28000"/>
              </a:srgbClr>
            </a:outerShdw>
          </a:effectLst>
        </p:spPr>
      </p:sp>
      <p:sp>
        <p:nvSpPr>
          <p:cNvPr id="5" name="Shape 3"/>
          <p:cNvSpPr/>
          <p:nvPr/>
        </p:nvSpPr>
        <p:spPr>
          <a:xfrm>
            <a:off x="640080" y="1965960"/>
            <a:ext cx="128016" cy="1170432"/>
          </a:xfrm>
          <a:prstGeom prst="roundRect">
            <a:avLst>
              <a:gd name="adj" fmla="val 28571"/>
            </a:avLst>
          </a:prstGeom>
          <a:solidFill>
            <a:srgbClr val="84B59F"/>
          </a:solidFill>
          <a:ln/>
        </p:spPr>
      </p:sp>
      <p:sp>
        <p:nvSpPr>
          <p:cNvPr id="6" name="Text 4"/>
          <p:cNvSpPr/>
          <p:nvPr/>
        </p:nvSpPr>
        <p:spPr>
          <a:xfrm>
            <a:off x="960120" y="2075688"/>
            <a:ext cx="2743200" cy="960120"/>
          </a:xfrm>
          <a:prstGeom prst="rect">
            <a:avLst/>
          </a:prstGeom>
          <a:noFill/>
          <a:ln/>
        </p:spPr>
        <p:txBody>
          <a:bodyPr wrap="square" lIns="0" tIns="0" rIns="0" bIns="0" rtlCol="0" anchor="t"/>
          <a:lstStyle/>
          <a:p>
            <a:pPr indent="0" marL="0">
              <a:buNone/>
            </a:pPr>
            <a:r>
              <a:rPr lang="en-US" sz="1500" b="1" dirty="0">
                <a:solidFill>
                  <a:srgbClr val="2F4A4E"/>
                </a:solidFill>
                <a:latin typeface="Calibri" pitchFamily="34" charset="0"/>
                <a:ea typeface="Calibri" pitchFamily="34" charset="-122"/>
                <a:cs typeface="Calibri" pitchFamily="34" charset="-120"/>
              </a:rPr>
              <a:t>Bloque 1 · Núcleo</a:t>
            </a:r>
            <a:endParaRPr lang="en-US" sz="1500" dirty="0"/>
          </a:p>
        </p:txBody>
      </p:sp>
      <p:sp>
        <p:nvSpPr>
          <p:cNvPr id="7" name="Text 5"/>
          <p:cNvSpPr/>
          <p:nvPr/>
        </p:nvSpPr>
        <p:spPr>
          <a:xfrm>
            <a:off x="3840480" y="2075688"/>
            <a:ext cx="4206240" cy="960120"/>
          </a:xfrm>
          <a:prstGeom prst="rect">
            <a:avLst/>
          </a:prstGeom>
          <a:noFill/>
          <a:ln/>
        </p:spPr>
        <p:txBody>
          <a:bodyPr wrap="square" lIns="0" tIns="0" rIns="0" bIns="0" rtlCol="0" anchor="t"/>
          <a:lstStyle/>
          <a:p>
            <a:pPr indent="0" marL="0">
              <a:lnSpc>
                <a:spcPct val="105000"/>
              </a:lnSpc>
              <a:buNone/>
            </a:pPr>
            <a:r>
              <a:rPr lang="en-US" sz="1300" dirty="0">
                <a:solidFill>
                  <a:srgbClr val="22302F"/>
                </a:solidFill>
                <a:latin typeface="Calibri" pitchFamily="34" charset="0"/>
                <a:ea typeface="Calibri" pitchFamily="34" charset="-122"/>
                <a:cs typeface="Calibri" pitchFamily="34" charset="-120"/>
              </a:rPr>
              <a:t>Onboarding, coordinación Slot/Propuesta, publicación de Eventos, navegación pública.</a:t>
            </a:r>
            <a:endParaRPr lang="en-US" sz="1300" dirty="0"/>
          </a:p>
        </p:txBody>
      </p:sp>
      <p:sp>
        <p:nvSpPr>
          <p:cNvPr id="8" name="Text 6"/>
          <p:cNvSpPr/>
          <p:nvPr/>
        </p:nvSpPr>
        <p:spPr>
          <a:xfrm>
            <a:off x="8229600" y="2075688"/>
            <a:ext cx="3108960" cy="960120"/>
          </a:xfrm>
          <a:prstGeom prst="rect">
            <a:avLst/>
          </a:prstGeom>
          <a:noFill/>
          <a:ln/>
        </p:spPr>
        <p:txBody>
          <a:bodyPr wrap="square" lIns="0" tIns="0" rIns="0" bIns="0" rtlCol="0" anchor="t"/>
          <a:lstStyle/>
          <a:p>
            <a:pPr indent="0" marL="0">
              <a:lnSpc>
                <a:spcPct val="105000"/>
              </a:lnSpc>
              <a:buNone/>
            </a:pPr>
            <a:r>
              <a:rPr lang="en-US" sz="1300" dirty="0">
                <a:solidFill>
                  <a:srgbClr val="6B7A78"/>
                </a:solidFill>
                <a:latin typeface="Calibri" pitchFamily="34" charset="0"/>
                <a:ea typeface="Calibri" pitchFamily="34" charset="-122"/>
                <a:cs typeface="Calibri" pitchFamily="34" charset="-120"/>
              </a:rPr>
              <a:t>Desplegado y cubierto por tests ejecutados. Hardening y dominio en revisión (PR #31/#32).</a:t>
            </a:r>
            <a:endParaRPr lang="en-US" sz="1300" dirty="0"/>
          </a:p>
        </p:txBody>
      </p:sp>
      <p:sp>
        <p:nvSpPr>
          <p:cNvPr id="9" name="Shape 7"/>
          <p:cNvSpPr/>
          <p:nvPr/>
        </p:nvSpPr>
        <p:spPr>
          <a:xfrm>
            <a:off x="640080" y="3291840"/>
            <a:ext cx="10881360" cy="1170432"/>
          </a:xfrm>
          <a:prstGeom prst="roundRect">
            <a:avLst>
              <a:gd name="adj" fmla="val 6250"/>
            </a:avLst>
          </a:prstGeom>
          <a:solidFill>
            <a:srgbClr val="FFFFFF"/>
          </a:solidFill>
          <a:ln/>
          <a:effectLst>
            <a:outerShdw sx="100000" sy="100000" kx="0" ky="0" algn="bl" rotWithShape="0" blurRad="101600" dist="38100" dir="5400000">
              <a:srgbClr val="9AA8A5">
                <a:alpha val="28000"/>
              </a:srgbClr>
            </a:outerShdw>
          </a:effectLst>
        </p:spPr>
      </p:sp>
      <p:sp>
        <p:nvSpPr>
          <p:cNvPr id="10" name="Shape 8"/>
          <p:cNvSpPr/>
          <p:nvPr/>
        </p:nvSpPr>
        <p:spPr>
          <a:xfrm>
            <a:off x="640080" y="3291840"/>
            <a:ext cx="128016" cy="1170432"/>
          </a:xfrm>
          <a:prstGeom prst="roundRect">
            <a:avLst>
              <a:gd name="adj" fmla="val 28571"/>
            </a:avLst>
          </a:prstGeom>
          <a:solidFill>
            <a:srgbClr val="69A297"/>
          </a:solidFill>
          <a:ln/>
        </p:spPr>
      </p:sp>
      <p:sp>
        <p:nvSpPr>
          <p:cNvPr id="11" name="Text 9"/>
          <p:cNvSpPr/>
          <p:nvPr/>
        </p:nvSpPr>
        <p:spPr>
          <a:xfrm>
            <a:off x="960120" y="3401568"/>
            <a:ext cx="2743200" cy="960120"/>
          </a:xfrm>
          <a:prstGeom prst="rect">
            <a:avLst/>
          </a:prstGeom>
          <a:noFill/>
          <a:ln/>
        </p:spPr>
        <p:txBody>
          <a:bodyPr wrap="square" lIns="0" tIns="0" rIns="0" bIns="0" rtlCol="0" anchor="t"/>
          <a:lstStyle/>
          <a:p>
            <a:pPr indent="0" marL="0">
              <a:buNone/>
            </a:pPr>
            <a:r>
              <a:rPr lang="en-US" sz="1500" b="1" dirty="0">
                <a:solidFill>
                  <a:srgbClr val="2F4A4E"/>
                </a:solidFill>
                <a:latin typeface="Calibri" pitchFamily="34" charset="0"/>
                <a:ea typeface="Calibri" pitchFamily="34" charset="-122"/>
                <a:cs typeface="Calibri" pitchFamily="34" charset="-120"/>
              </a:rPr>
              <a:t>Bloque 2 · Valoración</a:t>
            </a:r>
            <a:endParaRPr lang="en-US" sz="1500" dirty="0"/>
          </a:p>
        </p:txBody>
      </p:sp>
      <p:sp>
        <p:nvSpPr>
          <p:cNvPr id="12" name="Text 10"/>
          <p:cNvSpPr/>
          <p:nvPr/>
        </p:nvSpPr>
        <p:spPr>
          <a:xfrm>
            <a:off x="3840480" y="3401568"/>
            <a:ext cx="4206240" cy="960120"/>
          </a:xfrm>
          <a:prstGeom prst="rect">
            <a:avLst/>
          </a:prstGeom>
          <a:noFill/>
          <a:ln/>
        </p:spPr>
        <p:txBody>
          <a:bodyPr wrap="square" lIns="0" tIns="0" rIns="0" bIns="0" rtlCol="0" anchor="t"/>
          <a:lstStyle/>
          <a:p>
            <a:pPr indent="0" marL="0">
              <a:lnSpc>
                <a:spcPct val="105000"/>
              </a:lnSpc>
              <a:buNone/>
            </a:pPr>
            <a:r>
              <a:rPr lang="en-US" sz="1300" dirty="0">
                <a:solidFill>
                  <a:srgbClr val="22302F"/>
                </a:solidFill>
                <a:latin typeface="Calibri" pitchFamily="34" charset="0"/>
                <a:ea typeface="Calibri" pitchFamily="34" charset="-122"/>
                <a:cs typeface="Calibri" pitchFamily="34" charset="-120"/>
              </a:rPr>
              <a:t>Una valoración por cuenta Paciente/Familia y evento completado.</a:t>
            </a:r>
            <a:endParaRPr lang="en-US" sz="1300" dirty="0"/>
          </a:p>
        </p:txBody>
      </p:sp>
      <p:sp>
        <p:nvSpPr>
          <p:cNvPr id="13" name="Text 11"/>
          <p:cNvSpPr/>
          <p:nvPr/>
        </p:nvSpPr>
        <p:spPr>
          <a:xfrm>
            <a:off x="8229600" y="3401568"/>
            <a:ext cx="3108960" cy="960120"/>
          </a:xfrm>
          <a:prstGeom prst="rect">
            <a:avLst/>
          </a:prstGeom>
          <a:noFill/>
          <a:ln/>
        </p:spPr>
        <p:txBody>
          <a:bodyPr wrap="square" lIns="0" tIns="0" rIns="0" bIns="0" rtlCol="0" anchor="t"/>
          <a:lstStyle/>
          <a:p>
            <a:pPr indent="0" marL="0">
              <a:lnSpc>
                <a:spcPct val="105000"/>
              </a:lnSpc>
              <a:buNone/>
            </a:pPr>
            <a:r>
              <a:rPr lang="en-US" sz="1300" dirty="0">
                <a:solidFill>
                  <a:srgbClr val="6B7A78"/>
                </a:solidFill>
                <a:latin typeface="Calibri" pitchFamily="34" charset="0"/>
                <a:ea typeface="Calibri" pitchFamily="34" charset="-122"/>
                <a:cs typeface="Calibri" pitchFamily="34" charset="-120"/>
              </a:rPr>
              <a:t>Implementado (PR #10, mergeado).</a:t>
            </a:r>
            <a:endParaRPr lang="en-US" sz="1300" dirty="0"/>
          </a:p>
        </p:txBody>
      </p:sp>
      <p:sp>
        <p:nvSpPr>
          <p:cNvPr id="14" name="Shape 12"/>
          <p:cNvSpPr/>
          <p:nvPr/>
        </p:nvSpPr>
        <p:spPr>
          <a:xfrm>
            <a:off x="640080" y="4617720"/>
            <a:ext cx="10881360" cy="1170432"/>
          </a:xfrm>
          <a:prstGeom prst="roundRect">
            <a:avLst>
              <a:gd name="adj" fmla="val 6250"/>
            </a:avLst>
          </a:prstGeom>
          <a:solidFill>
            <a:srgbClr val="FFFFFF"/>
          </a:solidFill>
          <a:ln/>
          <a:effectLst>
            <a:outerShdw sx="100000" sy="100000" kx="0" ky="0" algn="bl" rotWithShape="0" blurRad="101600" dist="38100" dir="5400000">
              <a:srgbClr val="9AA8A5">
                <a:alpha val="28000"/>
              </a:srgbClr>
            </a:outerShdw>
          </a:effectLst>
        </p:spPr>
      </p:sp>
      <p:sp>
        <p:nvSpPr>
          <p:cNvPr id="15" name="Shape 13"/>
          <p:cNvSpPr/>
          <p:nvPr/>
        </p:nvSpPr>
        <p:spPr>
          <a:xfrm>
            <a:off x="640080" y="4617720"/>
            <a:ext cx="128016" cy="1170432"/>
          </a:xfrm>
          <a:prstGeom prst="roundRect">
            <a:avLst>
              <a:gd name="adj" fmla="val 28571"/>
            </a:avLst>
          </a:prstGeom>
          <a:solidFill>
            <a:srgbClr val="50808E"/>
          </a:solidFill>
          <a:ln/>
        </p:spPr>
      </p:sp>
      <p:sp>
        <p:nvSpPr>
          <p:cNvPr id="16" name="Text 14"/>
          <p:cNvSpPr/>
          <p:nvPr/>
        </p:nvSpPr>
        <p:spPr>
          <a:xfrm>
            <a:off x="960120" y="4727448"/>
            <a:ext cx="2743200" cy="960120"/>
          </a:xfrm>
          <a:prstGeom prst="rect">
            <a:avLst/>
          </a:prstGeom>
          <a:noFill/>
          <a:ln/>
        </p:spPr>
        <p:txBody>
          <a:bodyPr wrap="square" lIns="0" tIns="0" rIns="0" bIns="0" rtlCol="0" anchor="t"/>
          <a:lstStyle/>
          <a:p>
            <a:pPr indent="0" marL="0">
              <a:buNone/>
            </a:pPr>
            <a:r>
              <a:rPr lang="en-US" sz="1500" b="1" dirty="0">
                <a:solidFill>
                  <a:srgbClr val="2F4A4E"/>
                </a:solidFill>
                <a:latin typeface="Calibri" pitchFamily="34" charset="0"/>
                <a:ea typeface="Calibri" pitchFamily="34" charset="-122"/>
                <a:cs typeface="Calibri" pitchFamily="34" charset="-120"/>
              </a:rPr>
              <a:t>Bloque 3 · Mecenazgo</a:t>
            </a:r>
            <a:endParaRPr lang="en-US" sz="1500" dirty="0"/>
          </a:p>
        </p:txBody>
      </p:sp>
      <p:sp>
        <p:nvSpPr>
          <p:cNvPr id="17" name="Text 15"/>
          <p:cNvSpPr/>
          <p:nvPr/>
        </p:nvSpPr>
        <p:spPr>
          <a:xfrm>
            <a:off x="3840480" y="4727448"/>
            <a:ext cx="4206240" cy="960120"/>
          </a:xfrm>
          <a:prstGeom prst="rect">
            <a:avLst/>
          </a:prstGeom>
          <a:noFill/>
          <a:ln/>
        </p:spPr>
        <p:txBody>
          <a:bodyPr wrap="square" lIns="0" tIns="0" rIns="0" bIns="0" rtlCol="0" anchor="t"/>
          <a:lstStyle/>
          <a:p>
            <a:pPr indent="0" marL="0">
              <a:lnSpc>
                <a:spcPct val="105000"/>
              </a:lnSpc>
              <a:buNone/>
            </a:pPr>
            <a:r>
              <a:rPr lang="en-US" sz="1300" dirty="0">
                <a:solidFill>
                  <a:srgbClr val="22302F"/>
                </a:solidFill>
                <a:latin typeface="Calibri" pitchFamily="34" charset="0"/>
                <a:ea typeface="Calibri" pitchFamily="34" charset="-122"/>
                <a:cs typeface="Calibri" pitchFamily="34" charset="-120"/>
              </a:rPr>
              <a:t>Campañas simuladas tras un puerto PaymentGateway.</a:t>
            </a:r>
            <a:endParaRPr lang="en-US" sz="1300" dirty="0"/>
          </a:p>
        </p:txBody>
      </p:sp>
      <p:sp>
        <p:nvSpPr>
          <p:cNvPr id="18" name="Text 16"/>
          <p:cNvSpPr/>
          <p:nvPr/>
        </p:nvSpPr>
        <p:spPr>
          <a:xfrm>
            <a:off x="8229600" y="4727448"/>
            <a:ext cx="3108960" cy="960120"/>
          </a:xfrm>
          <a:prstGeom prst="rect">
            <a:avLst/>
          </a:prstGeom>
          <a:noFill/>
          <a:ln/>
        </p:spPr>
        <p:txBody>
          <a:bodyPr wrap="square" lIns="0" tIns="0" rIns="0" bIns="0" rtlCol="0" anchor="t"/>
          <a:lstStyle/>
          <a:p>
            <a:pPr indent="0" marL="0">
              <a:lnSpc>
                <a:spcPct val="105000"/>
              </a:lnSpc>
              <a:buNone/>
            </a:pPr>
            <a:r>
              <a:rPr lang="en-US" sz="1300" dirty="0">
                <a:solidFill>
                  <a:srgbClr val="6B7A78"/>
                </a:solidFill>
                <a:latin typeface="Calibri" pitchFamily="34" charset="0"/>
                <a:ea typeface="Calibri" pitchFamily="34" charset="-122"/>
                <a:cs typeface="Calibri" pitchFamily="34" charset="-120"/>
              </a:rPr>
              <a:t>Simulación sin pagos reales (PR #12, mergeado).</a:t>
            </a:r>
            <a:endParaRPr lang="en-US" sz="1300" dirty="0"/>
          </a:p>
        </p:txBody>
      </p:sp>
      <p:sp>
        <p:nvSpPr>
          <p:cNvPr id="19" name="Text 17"/>
          <p:cNvSpPr/>
          <p:nvPr/>
        </p:nvSpPr>
        <p:spPr>
          <a:xfrm>
            <a:off x="640080" y="5961888"/>
            <a:ext cx="10881360" cy="457200"/>
          </a:xfrm>
          <a:prstGeom prst="rect">
            <a:avLst/>
          </a:prstGeom>
          <a:noFill/>
          <a:ln/>
        </p:spPr>
        <p:txBody>
          <a:bodyPr wrap="square" lIns="0" tIns="0" rIns="0" bIns="0" rtlCol="0" anchor="ctr"/>
          <a:lstStyle/>
          <a:p>
            <a:pPr indent="0" marL="0">
              <a:buNone/>
            </a:pPr>
            <a:r>
              <a:rPr lang="en-US" sz="1300" i="1" dirty="0">
                <a:solidFill>
                  <a:srgbClr val="6B7A78"/>
                </a:solidFill>
                <a:latin typeface="Calibri" pitchFamily="34" charset="0"/>
                <a:ea typeface="Calibri" pitchFamily="34" charset="-122"/>
                <a:cs typeface="Calibri" pitchFamily="34" charset="-120"/>
              </a:rPr>
              <a:t>Seis tipos de centro (D16–D20): mergeado y desplegado. Sin EHR, app nativa, pagos reales, Kubernetes ni AWS en el MVP.</a:t>
            </a:r>
            <a:endParaRPr lang="en-US" sz="1300" dirty="0"/>
          </a:p>
        </p:txBody>
      </p:sp>
      <p:sp>
        <p:nvSpPr>
          <p:cNvPr id="20" name="Text 18"/>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DECISIONES TÉCNICAS</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Tecnología, y el porqué de cada elección</a:t>
            </a:r>
            <a:endParaRPr lang="en-US" sz="3000" dirty="0"/>
          </a:p>
        </p:txBody>
      </p:sp>
      <p:sp>
        <p:nvSpPr>
          <p:cNvPr id="4" name="Shape 2"/>
          <p:cNvSpPr/>
          <p:nvPr/>
        </p:nvSpPr>
        <p:spPr>
          <a:xfrm>
            <a:off x="640080" y="1965960"/>
            <a:ext cx="52578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5" name="Text 3"/>
          <p:cNvSpPr/>
          <p:nvPr/>
        </p:nvSpPr>
        <p:spPr>
          <a:xfrm>
            <a:off x="868680" y="2093976"/>
            <a:ext cx="4800600" cy="457200"/>
          </a:xfrm>
          <a:prstGeom prst="rect">
            <a:avLst/>
          </a:prstGeom>
          <a:noFill/>
          <a:ln/>
        </p:spPr>
        <p:txBody>
          <a:bodyPr wrap="square" lIns="0" tIns="0" rIns="0" bIns="0" rtlCol="0" anchor="ctr"/>
          <a:lstStyle/>
          <a:p>
            <a:pPr indent="0" marL="0">
              <a:buNone/>
            </a:pPr>
            <a:r>
              <a:rPr lang="en-US" sz="1450" b="1" dirty="0">
                <a:solidFill>
                  <a:srgbClr val="2F4A4E"/>
                </a:solidFill>
                <a:latin typeface="Calibri" pitchFamily="34" charset="0"/>
                <a:ea typeface="Calibri" pitchFamily="34" charset="-122"/>
                <a:cs typeface="Calibri" pitchFamily="34" charset="-120"/>
              </a:rPr>
              <a:t>Next.js · TypeScript · Tailwind</a:t>
            </a:r>
            <a:endParaRPr lang="en-US" sz="1450" dirty="0"/>
          </a:p>
        </p:txBody>
      </p:sp>
      <p:sp>
        <p:nvSpPr>
          <p:cNvPr id="6" name="Text 4"/>
          <p:cNvSpPr/>
          <p:nvPr/>
        </p:nvSpPr>
        <p:spPr>
          <a:xfrm>
            <a:off x="868680" y="2514600"/>
            <a:ext cx="4800600" cy="502920"/>
          </a:xfrm>
          <a:prstGeom prst="rect">
            <a:avLst/>
          </a:prstGeom>
          <a:noFill/>
          <a:ln/>
        </p:spPr>
        <p:txBody>
          <a:bodyPr wrap="square" lIns="0" tIns="0" rIns="0" bIns="0" rtlCol="0" anchor="ctr"/>
          <a:lstStyle/>
          <a:p>
            <a:pPr indent="0" marL="0">
              <a:lnSpc>
                <a:spcPct val="105000"/>
              </a:lnSpc>
              <a:buNone/>
            </a:pPr>
            <a:r>
              <a:rPr lang="en-US" sz="1300" dirty="0">
                <a:solidFill>
                  <a:srgbClr val="6B7A78"/>
                </a:solidFill>
                <a:latin typeface="Calibri" pitchFamily="34" charset="0"/>
                <a:ea typeface="Calibri" pitchFamily="34" charset="-122"/>
                <a:cs typeface="Calibri" pitchFamily="34" charset="-120"/>
              </a:rPr>
              <a:t>Un repositorio web con entrega tipada y UI.</a:t>
            </a:r>
            <a:endParaRPr lang="en-US" sz="1300" dirty="0"/>
          </a:p>
        </p:txBody>
      </p:sp>
      <p:sp>
        <p:nvSpPr>
          <p:cNvPr id="7" name="Shape 5"/>
          <p:cNvSpPr/>
          <p:nvPr/>
        </p:nvSpPr>
        <p:spPr>
          <a:xfrm>
            <a:off x="6263640" y="1965960"/>
            <a:ext cx="52578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8" name="Text 6"/>
          <p:cNvSpPr/>
          <p:nvPr/>
        </p:nvSpPr>
        <p:spPr>
          <a:xfrm>
            <a:off x="6492240" y="2093976"/>
            <a:ext cx="4800600" cy="457200"/>
          </a:xfrm>
          <a:prstGeom prst="rect">
            <a:avLst/>
          </a:prstGeom>
          <a:noFill/>
          <a:ln/>
        </p:spPr>
        <p:txBody>
          <a:bodyPr wrap="square" lIns="0" tIns="0" rIns="0" bIns="0" rtlCol="0" anchor="ctr"/>
          <a:lstStyle/>
          <a:p>
            <a:pPr indent="0" marL="0">
              <a:buNone/>
            </a:pPr>
            <a:r>
              <a:rPr lang="en-US" sz="1450" b="1" dirty="0">
                <a:solidFill>
                  <a:srgbClr val="2F4A4E"/>
                </a:solidFill>
                <a:latin typeface="Calibri" pitchFamily="34" charset="0"/>
                <a:ea typeface="Calibri" pitchFamily="34" charset="-122"/>
                <a:cs typeface="Calibri" pitchFamily="34" charset="-120"/>
              </a:rPr>
              <a:t>PostgreSQL · Prisma</a:t>
            </a:r>
            <a:endParaRPr lang="en-US" sz="1450" dirty="0"/>
          </a:p>
        </p:txBody>
      </p:sp>
      <p:sp>
        <p:nvSpPr>
          <p:cNvPr id="9" name="Text 7"/>
          <p:cNvSpPr/>
          <p:nvPr/>
        </p:nvSpPr>
        <p:spPr>
          <a:xfrm>
            <a:off x="6492240" y="2514600"/>
            <a:ext cx="4800600" cy="502920"/>
          </a:xfrm>
          <a:prstGeom prst="rect">
            <a:avLst/>
          </a:prstGeom>
          <a:noFill/>
          <a:ln/>
        </p:spPr>
        <p:txBody>
          <a:bodyPr wrap="square" lIns="0" tIns="0" rIns="0" bIns="0" rtlCol="0" anchor="ctr"/>
          <a:lstStyle/>
          <a:p>
            <a:pPr indent="0" marL="0">
              <a:lnSpc>
                <a:spcPct val="105000"/>
              </a:lnSpc>
              <a:buNone/>
            </a:pPr>
            <a:r>
              <a:rPr lang="en-US" sz="1300" dirty="0">
                <a:solidFill>
                  <a:srgbClr val="6B7A78"/>
                </a:solidFill>
                <a:latin typeface="Calibri" pitchFamily="34" charset="0"/>
                <a:ea typeface="Calibri" pitchFamily="34" charset="-122"/>
                <a:cs typeface="Calibri" pitchFamily="34" charset="-120"/>
              </a:rPr>
              <a:t>Persistencia transaccional; adaptadores verificados contra Postgres real en CI.</a:t>
            </a:r>
            <a:endParaRPr lang="en-US" sz="1300" dirty="0"/>
          </a:p>
        </p:txBody>
      </p:sp>
      <p:sp>
        <p:nvSpPr>
          <p:cNvPr id="10" name="Shape 8"/>
          <p:cNvSpPr/>
          <p:nvPr/>
        </p:nvSpPr>
        <p:spPr>
          <a:xfrm>
            <a:off x="640080" y="3383280"/>
            <a:ext cx="52578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11" name="Text 9"/>
          <p:cNvSpPr/>
          <p:nvPr/>
        </p:nvSpPr>
        <p:spPr>
          <a:xfrm>
            <a:off x="868680" y="3511296"/>
            <a:ext cx="4800600" cy="457200"/>
          </a:xfrm>
          <a:prstGeom prst="rect">
            <a:avLst/>
          </a:prstGeom>
          <a:noFill/>
          <a:ln/>
        </p:spPr>
        <p:txBody>
          <a:bodyPr wrap="square" lIns="0" tIns="0" rIns="0" bIns="0" rtlCol="0" anchor="ctr"/>
          <a:lstStyle/>
          <a:p>
            <a:pPr indent="0" marL="0">
              <a:buNone/>
            </a:pPr>
            <a:r>
              <a:rPr lang="en-US" sz="1450" b="1" dirty="0">
                <a:solidFill>
                  <a:srgbClr val="2F4A4E"/>
                </a:solidFill>
                <a:latin typeface="Calibri" pitchFamily="34" charset="0"/>
                <a:ea typeface="Calibri" pitchFamily="34" charset="-122"/>
                <a:cs typeface="Calibri" pitchFamily="34" charset="-120"/>
              </a:rPr>
              <a:t>Vitest · Playwright</a:t>
            </a:r>
            <a:endParaRPr lang="en-US" sz="1450" dirty="0"/>
          </a:p>
        </p:txBody>
      </p:sp>
      <p:sp>
        <p:nvSpPr>
          <p:cNvPr id="12" name="Text 10"/>
          <p:cNvSpPr/>
          <p:nvPr/>
        </p:nvSpPr>
        <p:spPr>
          <a:xfrm>
            <a:off x="868680" y="3931920"/>
            <a:ext cx="4800600" cy="502920"/>
          </a:xfrm>
          <a:prstGeom prst="rect">
            <a:avLst/>
          </a:prstGeom>
          <a:noFill/>
          <a:ln/>
        </p:spPr>
        <p:txBody>
          <a:bodyPr wrap="square" lIns="0" tIns="0" rIns="0" bIns="0" rtlCol="0" anchor="ctr"/>
          <a:lstStyle/>
          <a:p>
            <a:pPr indent="0" marL="0">
              <a:lnSpc>
                <a:spcPct val="105000"/>
              </a:lnSpc>
              <a:buNone/>
            </a:pPr>
            <a:r>
              <a:rPr lang="en-US" sz="1300" dirty="0">
                <a:solidFill>
                  <a:srgbClr val="6B7A78"/>
                </a:solidFill>
                <a:latin typeface="Calibri" pitchFamily="34" charset="0"/>
                <a:ea typeface="Calibri" pitchFamily="34" charset="-122"/>
                <a:cs typeface="Calibri" pitchFamily="34" charset="-120"/>
              </a:rPr>
              <a:t>Unit, integración y E2E, los tres ejecutándose en CI.</a:t>
            </a:r>
            <a:endParaRPr lang="en-US" sz="1300" dirty="0"/>
          </a:p>
        </p:txBody>
      </p:sp>
      <p:sp>
        <p:nvSpPr>
          <p:cNvPr id="13" name="Shape 11"/>
          <p:cNvSpPr/>
          <p:nvPr/>
        </p:nvSpPr>
        <p:spPr>
          <a:xfrm>
            <a:off x="6263640" y="3383280"/>
            <a:ext cx="52578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14" name="Text 12"/>
          <p:cNvSpPr/>
          <p:nvPr/>
        </p:nvSpPr>
        <p:spPr>
          <a:xfrm>
            <a:off x="6492240" y="3511296"/>
            <a:ext cx="4800600" cy="457200"/>
          </a:xfrm>
          <a:prstGeom prst="rect">
            <a:avLst/>
          </a:prstGeom>
          <a:noFill/>
          <a:ln/>
        </p:spPr>
        <p:txBody>
          <a:bodyPr wrap="square" lIns="0" tIns="0" rIns="0" bIns="0" rtlCol="0" anchor="ctr"/>
          <a:lstStyle/>
          <a:p>
            <a:pPr indent="0" marL="0">
              <a:buNone/>
            </a:pPr>
            <a:r>
              <a:rPr lang="en-US" sz="1450" b="1" dirty="0">
                <a:solidFill>
                  <a:srgbClr val="2F4A4E"/>
                </a:solidFill>
                <a:latin typeface="Calibri" pitchFamily="34" charset="0"/>
                <a:ea typeface="Calibri" pitchFamily="34" charset="-122"/>
                <a:cs typeface="Calibri" pitchFamily="34" charset="-120"/>
              </a:rPr>
              <a:t>Vercel · Postgres gestionado</a:t>
            </a:r>
            <a:endParaRPr lang="en-US" sz="1450" dirty="0"/>
          </a:p>
        </p:txBody>
      </p:sp>
      <p:sp>
        <p:nvSpPr>
          <p:cNvPr id="15" name="Text 13"/>
          <p:cNvSpPr/>
          <p:nvPr/>
        </p:nvSpPr>
        <p:spPr>
          <a:xfrm>
            <a:off x="6492240" y="3931920"/>
            <a:ext cx="4800600" cy="502920"/>
          </a:xfrm>
          <a:prstGeom prst="rect">
            <a:avLst/>
          </a:prstGeom>
          <a:noFill/>
          <a:ln/>
        </p:spPr>
        <p:txBody>
          <a:bodyPr wrap="square" lIns="0" tIns="0" rIns="0" bIns="0" rtlCol="0" anchor="ctr"/>
          <a:lstStyle/>
          <a:p>
            <a:pPr indent="0" marL="0">
              <a:lnSpc>
                <a:spcPct val="105000"/>
              </a:lnSpc>
              <a:buNone/>
            </a:pPr>
            <a:r>
              <a:rPr lang="en-US" sz="1300" dirty="0">
                <a:solidFill>
                  <a:srgbClr val="6B7A78"/>
                </a:solidFill>
                <a:latin typeface="Calibri" pitchFamily="34" charset="0"/>
                <a:ea typeface="Calibri" pitchFamily="34" charset="-122"/>
                <a:cs typeface="Calibri" pitchFamily="34" charset="-120"/>
              </a:rPr>
              <a:t>Desplegado y en vivo.</a:t>
            </a:r>
            <a:endParaRPr lang="en-US" sz="1300" dirty="0"/>
          </a:p>
        </p:txBody>
      </p:sp>
      <p:sp>
        <p:nvSpPr>
          <p:cNvPr id="16" name="Shape 14"/>
          <p:cNvSpPr/>
          <p:nvPr/>
        </p:nvSpPr>
        <p:spPr>
          <a:xfrm>
            <a:off x="640080" y="4800600"/>
            <a:ext cx="52578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17" name="Text 15"/>
          <p:cNvSpPr/>
          <p:nvPr/>
        </p:nvSpPr>
        <p:spPr>
          <a:xfrm>
            <a:off x="868680" y="4928616"/>
            <a:ext cx="4800600" cy="457200"/>
          </a:xfrm>
          <a:prstGeom prst="rect">
            <a:avLst/>
          </a:prstGeom>
          <a:noFill/>
          <a:ln/>
        </p:spPr>
        <p:txBody>
          <a:bodyPr wrap="square" lIns="0" tIns="0" rIns="0" bIns="0" rtlCol="0" anchor="ctr"/>
          <a:lstStyle/>
          <a:p>
            <a:pPr indent="0" marL="0">
              <a:buNone/>
            </a:pPr>
            <a:r>
              <a:rPr lang="en-US" sz="1450" b="1" dirty="0">
                <a:solidFill>
                  <a:srgbClr val="2F4A4E"/>
                </a:solidFill>
                <a:latin typeface="Calibri" pitchFamily="34" charset="0"/>
                <a:ea typeface="Calibri" pitchFamily="34" charset="-122"/>
                <a:cs typeface="Calibri" pitchFamily="34" charset="-120"/>
              </a:rPr>
              <a:t>Monolito sobre microservicios</a:t>
            </a:r>
            <a:endParaRPr lang="en-US" sz="1450" dirty="0"/>
          </a:p>
        </p:txBody>
      </p:sp>
      <p:sp>
        <p:nvSpPr>
          <p:cNvPr id="18" name="Text 16"/>
          <p:cNvSpPr/>
          <p:nvPr/>
        </p:nvSpPr>
        <p:spPr>
          <a:xfrm>
            <a:off x="868680" y="5349240"/>
            <a:ext cx="4800600" cy="502920"/>
          </a:xfrm>
          <a:prstGeom prst="rect">
            <a:avLst/>
          </a:prstGeom>
          <a:noFill/>
          <a:ln/>
        </p:spPr>
        <p:txBody>
          <a:bodyPr wrap="square" lIns="0" tIns="0" rIns="0" bIns="0" rtlCol="0" anchor="ctr"/>
          <a:lstStyle/>
          <a:p>
            <a:pPr indent="0" marL="0">
              <a:lnSpc>
                <a:spcPct val="105000"/>
              </a:lnSpc>
              <a:buNone/>
            </a:pPr>
            <a:r>
              <a:rPr lang="en-US" sz="1300" dirty="0">
                <a:solidFill>
                  <a:srgbClr val="6B7A78"/>
                </a:solidFill>
                <a:latin typeface="Calibri" pitchFamily="34" charset="0"/>
                <a:ea typeface="Calibri" pitchFamily="34" charset="-122"/>
                <a:cs typeface="Calibri" pitchFamily="34" charset="-120"/>
              </a:rPr>
              <a:t>Menos modos de fallo distribuido sin una necesidad actual.</a:t>
            </a:r>
            <a:endParaRPr lang="en-US" sz="1300" dirty="0"/>
          </a:p>
        </p:txBody>
      </p:sp>
      <p:sp>
        <p:nvSpPr>
          <p:cNvPr id="19" name="Shape 17"/>
          <p:cNvSpPr/>
          <p:nvPr/>
        </p:nvSpPr>
        <p:spPr>
          <a:xfrm>
            <a:off x="6263640" y="4800600"/>
            <a:ext cx="52578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20" name="Text 18"/>
          <p:cNvSpPr/>
          <p:nvPr/>
        </p:nvSpPr>
        <p:spPr>
          <a:xfrm>
            <a:off x="6492240" y="4928616"/>
            <a:ext cx="4800600" cy="457200"/>
          </a:xfrm>
          <a:prstGeom prst="rect">
            <a:avLst/>
          </a:prstGeom>
          <a:noFill/>
          <a:ln/>
        </p:spPr>
        <p:txBody>
          <a:bodyPr wrap="square" lIns="0" tIns="0" rIns="0" bIns="0" rtlCol="0" anchor="ctr"/>
          <a:lstStyle/>
          <a:p>
            <a:pPr indent="0" marL="0">
              <a:buNone/>
            </a:pPr>
            <a:r>
              <a:rPr lang="en-US" sz="1450" b="1" dirty="0">
                <a:solidFill>
                  <a:srgbClr val="2F4A4E"/>
                </a:solidFill>
                <a:latin typeface="Calibri" pitchFamily="34" charset="0"/>
                <a:ea typeface="Calibri" pitchFamily="34" charset="-122"/>
                <a:cs typeface="Calibri" pitchFamily="34" charset="-120"/>
              </a:rPr>
              <a:t>Sesiones en BD sobre JWT</a:t>
            </a:r>
            <a:endParaRPr lang="en-US" sz="1450" dirty="0"/>
          </a:p>
        </p:txBody>
      </p:sp>
      <p:sp>
        <p:nvSpPr>
          <p:cNvPr id="21" name="Text 19"/>
          <p:cNvSpPr/>
          <p:nvPr/>
        </p:nvSpPr>
        <p:spPr>
          <a:xfrm>
            <a:off x="6492240" y="5349240"/>
            <a:ext cx="4800600" cy="502920"/>
          </a:xfrm>
          <a:prstGeom prst="rect">
            <a:avLst/>
          </a:prstGeom>
          <a:noFill/>
          <a:ln/>
        </p:spPr>
        <p:txBody>
          <a:bodyPr wrap="square" lIns="0" tIns="0" rIns="0" bIns="0" rtlCol="0" anchor="ctr"/>
          <a:lstStyle/>
          <a:p>
            <a:pPr indent="0" marL="0">
              <a:lnSpc>
                <a:spcPct val="105000"/>
              </a:lnSpc>
              <a:buNone/>
            </a:pPr>
            <a:r>
              <a:rPr lang="en-US" sz="1300" dirty="0">
                <a:solidFill>
                  <a:srgbClr val="6B7A78"/>
                </a:solidFill>
                <a:latin typeface="Calibri" pitchFamily="34" charset="0"/>
                <a:ea typeface="Calibri" pitchFamily="34" charset="-122"/>
                <a:cs typeface="Calibri" pitchFamily="34" charset="-120"/>
              </a:rPr>
              <a:t>Revocación inmediata tras rechazo/desactivación de perfil.</a:t>
            </a:r>
            <a:endParaRPr lang="en-US" sz="1300" dirty="0"/>
          </a:p>
        </p:txBody>
      </p:sp>
      <p:sp>
        <p:nvSpPr>
          <p:cNvPr id="22" name="Text 20"/>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ARQUITECTURA</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Hexagonal en un único repositorio</a:t>
            </a:r>
            <a:endParaRPr lang="en-US" sz="3000" dirty="0"/>
          </a:p>
        </p:txBody>
      </p:sp>
      <p:sp>
        <p:nvSpPr>
          <p:cNvPr id="4" name="Shape 2"/>
          <p:cNvSpPr/>
          <p:nvPr/>
        </p:nvSpPr>
        <p:spPr>
          <a:xfrm>
            <a:off x="640080" y="1965960"/>
            <a:ext cx="6309360" cy="896112"/>
          </a:xfrm>
          <a:prstGeom prst="roundRect">
            <a:avLst>
              <a:gd name="adj" fmla="val 8163"/>
            </a:avLst>
          </a:prstGeom>
          <a:solidFill>
            <a:srgbClr val="FFFFFF"/>
          </a:solidFill>
          <a:ln/>
          <a:effectLst>
            <a:outerShdw sx="100000" sy="100000" kx="0" ky="0" algn="bl" rotWithShape="0" blurRad="101600" dist="38100" dir="5400000">
              <a:srgbClr val="9AA8A5">
                <a:alpha val="28000"/>
              </a:srgbClr>
            </a:outerShdw>
          </a:effectLst>
        </p:spPr>
      </p:sp>
      <p:sp>
        <p:nvSpPr>
          <p:cNvPr id="5" name="Text 3"/>
          <p:cNvSpPr/>
          <p:nvPr/>
        </p:nvSpPr>
        <p:spPr>
          <a:xfrm>
            <a:off x="868680" y="2057400"/>
            <a:ext cx="2103120" cy="731520"/>
          </a:xfrm>
          <a:prstGeom prst="rect">
            <a:avLst/>
          </a:prstGeom>
          <a:noFill/>
          <a:ln/>
        </p:spPr>
        <p:txBody>
          <a:bodyPr wrap="square" lIns="0" tIns="0" rIns="0" bIns="0" rtlCol="0" anchor="ctr"/>
          <a:lstStyle/>
          <a:p>
            <a:pPr indent="0" marL="0">
              <a:buNone/>
            </a:pPr>
            <a:r>
              <a:rPr lang="en-US" sz="1500" b="1" dirty="0">
                <a:solidFill>
                  <a:srgbClr val="50808E"/>
                </a:solidFill>
                <a:latin typeface="Courier New" pitchFamily="34" charset="0"/>
                <a:ea typeface="Courier New" pitchFamily="34" charset="-122"/>
                <a:cs typeface="Courier New" pitchFamily="34" charset="-120"/>
              </a:rPr>
              <a:t>domain/</a:t>
            </a:r>
            <a:endParaRPr lang="en-US" sz="1500" dirty="0"/>
          </a:p>
        </p:txBody>
      </p:sp>
      <p:sp>
        <p:nvSpPr>
          <p:cNvPr id="6" name="Text 4"/>
          <p:cNvSpPr/>
          <p:nvPr/>
        </p:nvSpPr>
        <p:spPr>
          <a:xfrm>
            <a:off x="2926080" y="2057400"/>
            <a:ext cx="3840480" cy="731520"/>
          </a:xfrm>
          <a:prstGeom prst="rect">
            <a:avLst/>
          </a:prstGeom>
          <a:noFill/>
          <a:ln/>
        </p:spPr>
        <p:txBody>
          <a:bodyPr wrap="square" lIns="0" tIns="0" rIns="0" bIns="0" rtlCol="0" anchor="ctr"/>
          <a:lstStyle/>
          <a:p>
            <a:pPr indent="0" marL="0">
              <a:lnSpc>
                <a:spcPct val="102000"/>
              </a:lnSpc>
              <a:buNone/>
            </a:pPr>
            <a:r>
              <a:rPr lang="en-US" sz="1250" dirty="0">
                <a:solidFill>
                  <a:srgbClr val="22302F"/>
                </a:solidFill>
                <a:latin typeface="Calibri" pitchFamily="34" charset="0"/>
                <a:ea typeface="Calibri" pitchFamily="34" charset="-122"/>
                <a:cs typeface="Calibri" pitchFamily="34" charset="-120"/>
              </a:rPr>
              <a:t>Entidades sin framework, máquinas de estado, reglas puras.</a:t>
            </a:r>
            <a:endParaRPr lang="en-US" sz="1250" dirty="0"/>
          </a:p>
        </p:txBody>
      </p:sp>
      <p:sp>
        <p:nvSpPr>
          <p:cNvPr id="7" name="Shape 5"/>
          <p:cNvSpPr/>
          <p:nvPr/>
        </p:nvSpPr>
        <p:spPr>
          <a:xfrm>
            <a:off x="640080" y="2990088"/>
            <a:ext cx="6309360" cy="896112"/>
          </a:xfrm>
          <a:prstGeom prst="roundRect">
            <a:avLst>
              <a:gd name="adj" fmla="val 8163"/>
            </a:avLst>
          </a:prstGeom>
          <a:solidFill>
            <a:srgbClr val="FFFFFF"/>
          </a:solidFill>
          <a:ln/>
          <a:effectLst>
            <a:outerShdw sx="100000" sy="100000" kx="0" ky="0" algn="bl" rotWithShape="0" blurRad="101600" dist="38100" dir="5400000">
              <a:srgbClr val="9AA8A5">
                <a:alpha val="28000"/>
              </a:srgbClr>
            </a:outerShdw>
          </a:effectLst>
        </p:spPr>
      </p:sp>
      <p:sp>
        <p:nvSpPr>
          <p:cNvPr id="8" name="Text 6"/>
          <p:cNvSpPr/>
          <p:nvPr/>
        </p:nvSpPr>
        <p:spPr>
          <a:xfrm>
            <a:off x="868680" y="3081528"/>
            <a:ext cx="2103120" cy="731520"/>
          </a:xfrm>
          <a:prstGeom prst="rect">
            <a:avLst/>
          </a:prstGeom>
          <a:noFill/>
          <a:ln/>
        </p:spPr>
        <p:txBody>
          <a:bodyPr wrap="square" lIns="0" tIns="0" rIns="0" bIns="0" rtlCol="0" anchor="ctr"/>
          <a:lstStyle/>
          <a:p>
            <a:pPr indent="0" marL="0">
              <a:buNone/>
            </a:pPr>
            <a:r>
              <a:rPr lang="en-US" sz="1500" b="1" dirty="0">
                <a:solidFill>
                  <a:srgbClr val="50808E"/>
                </a:solidFill>
                <a:latin typeface="Courier New" pitchFamily="34" charset="0"/>
                <a:ea typeface="Courier New" pitchFamily="34" charset="-122"/>
                <a:cs typeface="Courier New" pitchFamily="34" charset="-120"/>
              </a:rPr>
              <a:t>application/</a:t>
            </a:r>
            <a:endParaRPr lang="en-US" sz="1500" dirty="0"/>
          </a:p>
        </p:txBody>
      </p:sp>
      <p:sp>
        <p:nvSpPr>
          <p:cNvPr id="9" name="Text 7"/>
          <p:cNvSpPr/>
          <p:nvPr/>
        </p:nvSpPr>
        <p:spPr>
          <a:xfrm>
            <a:off x="2926080" y="3081528"/>
            <a:ext cx="3840480" cy="731520"/>
          </a:xfrm>
          <a:prstGeom prst="rect">
            <a:avLst/>
          </a:prstGeom>
          <a:noFill/>
          <a:ln/>
        </p:spPr>
        <p:txBody>
          <a:bodyPr wrap="square" lIns="0" tIns="0" rIns="0" bIns="0" rtlCol="0" anchor="ctr"/>
          <a:lstStyle/>
          <a:p>
            <a:pPr indent="0" marL="0">
              <a:lnSpc>
                <a:spcPct val="102000"/>
              </a:lnSpc>
              <a:buNone/>
            </a:pPr>
            <a:r>
              <a:rPr lang="en-US" sz="1250" dirty="0">
                <a:solidFill>
                  <a:srgbClr val="22302F"/>
                </a:solidFill>
                <a:latin typeface="Calibri" pitchFamily="34" charset="0"/>
                <a:ea typeface="Calibri" pitchFamily="34" charset="-122"/>
                <a:cs typeface="Calibri" pitchFamily="34" charset="-120"/>
              </a:rPr>
              <a:t>Casos de uso y puertos; orquesta el dominio.</a:t>
            </a:r>
            <a:endParaRPr lang="en-US" sz="1250" dirty="0"/>
          </a:p>
        </p:txBody>
      </p:sp>
      <p:sp>
        <p:nvSpPr>
          <p:cNvPr id="10" name="Shape 8"/>
          <p:cNvSpPr/>
          <p:nvPr/>
        </p:nvSpPr>
        <p:spPr>
          <a:xfrm>
            <a:off x="640080" y="4014216"/>
            <a:ext cx="6309360" cy="896112"/>
          </a:xfrm>
          <a:prstGeom prst="roundRect">
            <a:avLst>
              <a:gd name="adj" fmla="val 8163"/>
            </a:avLst>
          </a:prstGeom>
          <a:solidFill>
            <a:srgbClr val="FFFFFF"/>
          </a:solidFill>
          <a:ln/>
          <a:effectLst>
            <a:outerShdw sx="100000" sy="100000" kx="0" ky="0" algn="bl" rotWithShape="0" blurRad="101600" dist="38100" dir="5400000">
              <a:srgbClr val="9AA8A5">
                <a:alpha val="28000"/>
              </a:srgbClr>
            </a:outerShdw>
          </a:effectLst>
        </p:spPr>
      </p:sp>
      <p:sp>
        <p:nvSpPr>
          <p:cNvPr id="11" name="Text 9"/>
          <p:cNvSpPr/>
          <p:nvPr/>
        </p:nvSpPr>
        <p:spPr>
          <a:xfrm>
            <a:off x="868680" y="4105656"/>
            <a:ext cx="2103120" cy="731520"/>
          </a:xfrm>
          <a:prstGeom prst="rect">
            <a:avLst/>
          </a:prstGeom>
          <a:noFill/>
          <a:ln/>
        </p:spPr>
        <p:txBody>
          <a:bodyPr wrap="square" lIns="0" tIns="0" rIns="0" bIns="0" rtlCol="0" anchor="ctr"/>
          <a:lstStyle/>
          <a:p>
            <a:pPr indent="0" marL="0">
              <a:buNone/>
            </a:pPr>
            <a:r>
              <a:rPr lang="en-US" sz="1500" b="1" dirty="0">
                <a:solidFill>
                  <a:srgbClr val="50808E"/>
                </a:solidFill>
                <a:latin typeface="Courier New" pitchFamily="34" charset="0"/>
                <a:ea typeface="Courier New" pitchFamily="34" charset="-122"/>
                <a:cs typeface="Courier New" pitchFamily="34" charset="-120"/>
              </a:rPr>
              <a:t>infrastructure/</a:t>
            </a:r>
            <a:endParaRPr lang="en-US" sz="1500" dirty="0"/>
          </a:p>
        </p:txBody>
      </p:sp>
      <p:sp>
        <p:nvSpPr>
          <p:cNvPr id="12" name="Text 10"/>
          <p:cNvSpPr/>
          <p:nvPr/>
        </p:nvSpPr>
        <p:spPr>
          <a:xfrm>
            <a:off x="2926080" y="4105656"/>
            <a:ext cx="3840480" cy="731520"/>
          </a:xfrm>
          <a:prstGeom prst="rect">
            <a:avLst/>
          </a:prstGeom>
          <a:noFill/>
          <a:ln/>
        </p:spPr>
        <p:txBody>
          <a:bodyPr wrap="square" lIns="0" tIns="0" rIns="0" bIns="0" rtlCol="0" anchor="ctr"/>
          <a:lstStyle/>
          <a:p>
            <a:pPr indent="0" marL="0">
              <a:lnSpc>
                <a:spcPct val="102000"/>
              </a:lnSpc>
              <a:buNone/>
            </a:pPr>
            <a:r>
              <a:rPr lang="en-US" sz="1250" dirty="0">
                <a:solidFill>
                  <a:srgbClr val="22302F"/>
                </a:solidFill>
                <a:latin typeface="Calibri" pitchFamily="34" charset="0"/>
                <a:ea typeface="Calibri" pitchFamily="34" charset="-122"/>
                <a:cs typeface="Calibri" pitchFamily="34" charset="-120"/>
              </a:rPr>
              <a:t>Repositorios Prisma, 3 units of work transaccionales, sesiones, hashing, rate limiting, HTTP.</a:t>
            </a:r>
            <a:endParaRPr lang="en-US" sz="1250" dirty="0"/>
          </a:p>
        </p:txBody>
      </p:sp>
      <p:sp>
        <p:nvSpPr>
          <p:cNvPr id="13" name="Shape 11"/>
          <p:cNvSpPr/>
          <p:nvPr/>
        </p:nvSpPr>
        <p:spPr>
          <a:xfrm>
            <a:off x="640080" y="5038344"/>
            <a:ext cx="6309360" cy="896112"/>
          </a:xfrm>
          <a:prstGeom prst="roundRect">
            <a:avLst>
              <a:gd name="adj" fmla="val 8163"/>
            </a:avLst>
          </a:prstGeom>
          <a:solidFill>
            <a:srgbClr val="FFFFFF"/>
          </a:solidFill>
          <a:ln/>
          <a:effectLst>
            <a:outerShdw sx="100000" sy="100000" kx="0" ky="0" algn="bl" rotWithShape="0" blurRad="101600" dist="38100" dir="5400000">
              <a:srgbClr val="9AA8A5">
                <a:alpha val="28000"/>
              </a:srgbClr>
            </a:outerShdw>
          </a:effectLst>
        </p:spPr>
      </p:sp>
      <p:sp>
        <p:nvSpPr>
          <p:cNvPr id="14" name="Text 12"/>
          <p:cNvSpPr/>
          <p:nvPr/>
        </p:nvSpPr>
        <p:spPr>
          <a:xfrm>
            <a:off x="868680" y="5129784"/>
            <a:ext cx="2103120" cy="731520"/>
          </a:xfrm>
          <a:prstGeom prst="rect">
            <a:avLst/>
          </a:prstGeom>
          <a:noFill/>
          <a:ln/>
        </p:spPr>
        <p:txBody>
          <a:bodyPr wrap="square" lIns="0" tIns="0" rIns="0" bIns="0" rtlCol="0" anchor="ctr"/>
          <a:lstStyle/>
          <a:p>
            <a:pPr indent="0" marL="0">
              <a:buNone/>
            </a:pPr>
            <a:r>
              <a:rPr lang="en-US" sz="1500" b="1" dirty="0">
                <a:solidFill>
                  <a:srgbClr val="50808E"/>
                </a:solidFill>
                <a:latin typeface="Courier New" pitchFamily="34" charset="0"/>
                <a:ea typeface="Courier New" pitchFamily="34" charset="-122"/>
                <a:cs typeface="Courier New" pitchFamily="34" charset="-120"/>
              </a:rPr>
              <a:t>ui/ · app/</a:t>
            </a:r>
            <a:endParaRPr lang="en-US" sz="1500" dirty="0"/>
          </a:p>
        </p:txBody>
      </p:sp>
      <p:sp>
        <p:nvSpPr>
          <p:cNvPr id="15" name="Text 13"/>
          <p:cNvSpPr/>
          <p:nvPr/>
        </p:nvSpPr>
        <p:spPr>
          <a:xfrm>
            <a:off x="2926080" y="5129784"/>
            <a:ext cx="3840480" cy="731520"/>
          </a:xfrm>
          <a:prstGeom prst="rect">
            <a:avLst/>
          </a:prstGeom>
          <a:noFill/>
          <a:ln/>
        </p:spPr>
        <p:txBody>
          <a:bodyPr wrap="square" lIns="0" tIns="0" rIns="0" bIns="0" rtlCol="0" anchor="ctr"/>
          <a:lstStyle/>
          <a:p>
            <a:pPr indent="0" marL="0">
              <a:lnSpc>
                <a:spcPct val="102000"/>
              </a:lnSpc>
              <a:buNone/>
            </a:pPr>
            <a:r>
              <a:rPr lang="en-US" sz="1250" dirty="0">
                <a:solidFill>
                  <a:srgbClr val="22302F"/>
                </a:solidFill>
                <a:latin typeface="Calibri" pitchFamily="34" charset="0"/>
                <a:ea typeface="Calibri" pitchFamily="34" charset="-122"/>
                <a:cs typeface="Calibri" pitchFamily="34" charset="-120"/>
              </a:rPr>
              <a:t>Presentación + entradas finas de Next.js: 5 páginas públicas, 3 áreas de rol, 11 rutas API mutantes.</a:t>
            </a:r>
            <a:endParaRPr lang="en-US" sz="1250" dirty="0"/>
          </a:p>
        </p:txBody>
      </p:sp>
      <p:sp>
        <p:nvSpPr>
          <p:cNvPr id="16" name="Shape 14"/>
          <p:cNvSpPr/>
          <p:nvPr/>
        </p:nvSpPr>
        <p:spPr>
          <a:xfrm>
            <a:off x="7406640" y="1965960"/>
            <a:ext cx="4114800" cy="4069080"/>
          </a:xfrm>
          <a:prstGeom prst="roundRect">
            <a:avLst>
              <a:gd name="adj" fmla="val 1798"/>
            </a:avLst>
          </a:prstGeom>
          <a:solidFill>
            <a:srgbClr val="2F4A4E"/>
          </a:solidFill>
          <a:ln/>
        </p:spPr>
      </p:sp>
      <p:sp>
        <p:nvSpPr>
          <p:cNvPr id="17" name="Text 15"/>
          <p:cNvSpPr/>
          <p:nvPr/>
        </p:nvSpPr>
        <p:spPr>
          <a:xfrm>
            <a:off x="7635240" y="2148840"/>
            <a:ext cx="36576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Dos ejes ortogonales (D16–D20)</a:t>
            </a:r>
            <a:endParaRPr lang="en-US" sz="1700" dirty="0"/>
          </a:p>
        </p:txBody>
      </p:sp>
      <p:sp>
        <p:nvSpPr>
          <p:cNvPr id="18" name="Text 16"/>
          <p:cNvSpPr/>
          <p:nvPr/>
        </p:nvSpPr>
        <p:spPr>
          <a:xfrm>
            <a:off x="7635240" y="2697480"/>
            <a:ext cx="3657600" cy="3200400"/>
          </a:xfrm>
          <a:prstGeom prst="rect">
            <a:avLst/>
          </a:prstGeom>
          <a:noFill/>
          <a:ln/>
        </p:spPr>
        <p:txBody>
          <a:bodyPr wrap="square" lIns="0" tIns="0" rIns="0" bIns="0" rtlCol="0" anchor="t"/>
          <a:lstStyle/>
          <a:p>
            <a:pPr indent="0" marL="0">
              <a:spcAft>
                <a:spcPts val="200"/>
              </a:spcAft>
              <a:buNone/>
            </a:pPr>
            <a:r>
              <a:rPr lang="en-US" sz="1300" b="1" dirty="0">
                <a:solidFill>
                  <a:srgbClr val="84B59F"/>
                </a:solidFill>
                <a:latin typeface="Calibri" pitchFamily="34" charset="0"/>
                <a:ea typeface="Calibri" pitchFamily="34" charset="-122"/>
                <a:cs typeface="Calibri" pitchFamily="34" charset="-120"/>
              </a:rPr>
              <a:t>Rol</a:t>
            </a:r>
            <a:endParaRPr lang="en-US" sz="1300" dirty="0"/>
          </a:p>
          <a:p>
            <a:pPr indent="0" marL="0">
              <a:spcAft>
                <a:spcPts val="1200"/>
              </a:spcAft>
              <a:buNone/>
            </a:pPr>
            <a:r>
              <a:rPr lang="en-US" sz="1250" dirty="0">
                <a:solidFill>
                  <a:srgbClr val="CFE3DC"/>
                </a:solidFill>
                <a:latin typeface="Calibri" pitchFamily="34" charset="0"/>
                <a:ea typeface="Calibri" pitchFamily="34" charset="-122"/>
                <a:cs typeface="Calibri" pitchFamily="34" charset="-120"/>
              </a:rPr>
              <a:t>admin · centre · artist · patient  → autorización</a:t>
            </a:r>
            <a:endParaRPr lang="en-US" sz="1300" dirty="0"/>
          </a:p>
          <a:p>
            <a:pPr indent="0" marL="0">
              <a:spcAft>
                <a:spcPts val="200"/>
              </a:spcAft>
              <a:buNone/>
            </a:pPr>
            <a:r>
              <a:rPr lang="en-US" sz="1300" b="1" dirty="0">
                <a:solidFill>
                  <a:srgbClr val="84B59F"/>
                </a:solidFill>
                <a:latin typeface="Calibri" pitchFamily="34" charset="0"/>
                <a:ea typeface="Calibri" pitchFamily="34" charset="-122"/>
                <a:cs typeface="Calibri" pitchFamily="34" charset="-120"/>
              </a:rPr>
              <a:t>Tipo de centro (CentreType)</a:t>
            </a:r>
            <a:endParaRPr lang="en-US" sz="1300" dirty="0"/>
          </a:p>
          <a:p>
            <a:pPr indent="0" marL="0">
              <a:spcAft>
                <a:spcPts val="1200"/>
              </a:spcAft>
              <a:buNone/>
            </a:pPr>
            <a:r>
              <a:rPr lang="en-US" sz="1250" dirty="0">
                <a:solidFill>
                  <a:srgbClr val="CFE3DC"/>
                </a:solidFill>
                <a:latin typeface="Calibri" pitchFamily="34" charset="0"/>
                <a:ea typeface="Calibri" pitchFamily="34" charset="-122"/>
                <a:cs typeface="Calibri" pitchFamily="34" charset="-120"/>
              </a:rPr>
              <a:t>hospital · nursing_home · day_centre · day_hospital · occupational_centre · palliative_unit  → dato</a:t>
            </a:r>
            <a:endParaRPr lang="en-US" sz="1300" dirty="0"/>
          </a:p>
          <a:p>
            <a:pPr indent="0" marL="0">
              <a:buNone/>
            </a:pPr>
            <a:r>
              <a:rPr lang="en-US" sz="1250" i="1" dirty="0">
                <a:solidFill>
                  <a:srgbClr val="FFFFFF"/>
                </a:solidFill>
                <a:latin typeface="Calibri" pitchFamily="34" charset="0"/>
                <a:ea typeface="Calibri" pitchFamily="34" charset="-122"/>
                <a:cs typeface="Calibri" pitchFamily="34" charset="-120"/>
              </a:rPr>
              <a:t>Añadir un séptimo tipo es dato, no código: un valor de enum + una migración + una etiqueta i18n. Cero cambios en guards ni en el predicado de seguridad.</a:t>
            </a:r>
            <a:endParaRPr lang="en-US" sz="1300" dirty="0"/>
          </a:p>
        </p:txBody>
      </p:sp>
      <p:sp>
        <p:nvSpPr>
          <p:cNvPr id="19" name="Text 17"/>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MODELO DE DOMINIO</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Máquinas de estado explícitas</a:t>
            </a:r>
            <a:endParaRPr lang="en-US" sz="3000" dirty="0"/>
          </a:p>
        </p:txBody>
      </p:sp>
      <p:sp>
        <p:nvSpPr>
          <p:cNvPr id="4" name="Shape 2"/>
          <p:cNvSpPr/>
          <p:nvPr/>
        </p:nvSpPr>
        <p:spPr>
          <a:xfrm>
            <a:off x="640080" y="1965960"/>
            <a:ext cx="5257800" cy="1417320"/>
          </a:xfrm>
          <a:prstGeom prst="roundRect">
            <a:avLst>
              <a:gd name="adj" fmla="val 5161"/>
            </a:avLst>
          </a:prstGeom>
          <a:solidFill>
            <a:srgbClr val="FFFFFF"/>
          </a:solidFill>
          <a:ln/>
          <a:effectLst>
            <a:outerShdw sx="100000" sy="100000" kx="0" ky="0" algn="bl" rotWithShape="0" blurRad="101600" dist="38100" dir="5400000">
              <a:srgbClr val="9AA8A5">
                <a:alpha val="28000"/>
              </a:srgbClr>
            </a:outerShdw>
          </a:effectLst>
        </p:spPr>
      </p:sp>
      <p:sp>
        <p:nvSpPr>
          <p:cNvPr id="5" name="Shape 3"/>
          <p:cNvSpPr/>
          <p:nvPr/>
        </p:nvSpPr>
        <p:spPr>
          <a:xfrm>
            <a:off x="896112" y="2221992"/>
            <a:ext cx="384048" cy="384048"/>
          </a:xfrm>
          <a:prstGeom prst="ellipse">
            <a:avLst/>
          </a:prstGeom>
          <a:solidFill>
            <a:srgbClr val="84B59F"/>
          </a:solidFill>
          <a:ln/>
        </p:spPr>
      </p:sp>
      <p:sp>
        <p:nvSpPr>
          <p:cNvPr id="6" name="Text 4"/>
          <p:cNvSpPr/>
          <p:nvPr/>
        </p:nvSpPr>
        <p:spPr>
          <a:xfrm>
            <a:off x="1417320" y="2185416"/>
            <a:ext cx="4251960" cy="457200"/>
          </a:xfrm>
          <a:prstGeom prst="rect">
            <a:avLst/>
          </a:prstGeom>
          <a:noFill/>
          <a:ln/>
        </p:spPr>
        <p:txBody>
          <a:bodyPr wrap="square" lIns="0" tIns="0" rIns="0" bIns="0" rtlCol="0" anchor="ctr"/>
          <a:lstStyle/>
          <a:p>
            <a:pPr indent="0" marL="0">
              <a:buNone/>
            </a:pPr>
            <a:r>
              <a:rPr lang="en-US" sz="1800" b="1" dirty="0">
                <a:solidFill>
                  <a:srgbClr val="2F4A4E"/>
                </a:solidFill>
                <a:latin typeface="Cambria" pitchFamily="34" charset="0"/>
                <a:ea typeface="Cambria" pitchFamily="34" charset="-122"/>
                <a:cs typeface="Cambria" pitchFamily="34" charset="-120"/>
              </a:rPr>
              <a:t>Profile</a:t>
            </a:r>
            <a:endParaRPr lang="en-US" sz="1800" dirty="0"/>
          </a:p>
        </p:txBody>
      </p:sp>
      <p:sp>
        <p:nvSpPr>
          <p:cNvPr id="7" name="Text 5"/>
          <p:cNvSpPr/>
          <p:nvPr/>
        </p:nvSpPr>
        <p:spPr>
          <a:xfrm>
            <a:off x="914400" y="2743200"/>
            <a:ext cx="4709160" cy="548640"/>
          </a:xfrm>
          <a:prstGeom prst="rect">
            <a:avLst/>
          </a:prstGeom>
          <a:noFill/>
          <a:ln/>
        </p:spPr>
        <p:txBody>
          <a:bodyPr wrap="square" lIns="0" tIns="0" rIns="0" bIns="0" rtlCol="0" anchor="ctr"/>
          <a:lstStyle/>
          <a:p>
            <a:pPr indent="0" marL="0">
              <a:lnSpc>
                <a:spcPct val="105000"/>
              </a:lnSpc>
              <a:buNone/>
            </a:pPr>
            <a:r>
              <a:rPr lang="en-US" sz="1250" dirty="0">
                <a:solidFill>
                  <a:srgbClr val="22302F"/>
                </a:solidFill>
                <a:latin typeface="Courier New" pitchFamily="34" charset="0"/>
                <a:ea typeface="Courier New" pitchFamily="34" charset="-122"/>
                <a:cs typeface="Courier New" pitchFamily="34" charset="-120"/>
              </a:rPr>
              <a:t>pending → active | rejected</a:t>
            </a:r>
            <a:endParaRPr lang="en-US" sz="1250" dirty="0"/>
          </a:p>
          <a:p>
            <a:pPr indent="0" marL="0">
              <a:lnSpc>
                <a:spcPct val="105000"/>
              </a:lnSpc>
              <a:buNone/>
            </a:pPr>
            <a:r>
              <a:rPr lang="en-US" sz="1250" dirty="0">
                <a:solidFill>
                  <a:srgbClr val="22302F"/>
                </a:solidFill>
                <a:latin typeface="Courier New" pitchFamily="34" charset="0"/>
                <a:ea typeface="Courier New" pitchFamily="34" charset="-122"/>
                <a:cs typeface="Courier New" pitchFamily="34" charset="-120"/>
              </a:rPr>
              <a:t>active → deactivated</a:t>
            </a:r>
            <a:endParaRPr lang="en-US" sz="1250" dirty="0"/>
          </a:p>
          <a:p>
            <a:pPr indent="0" marL="0">
              <a:lnSpc>
                <a:spcPct val="105000"/>
              </a:lnSpc>
              <a:buNone/>
            </a:pPr>
            <a:r>
              <a:rPr lang="en-US" sz="1250" dirty="0">
                <a:solidFill>
                  <a:srgbClr val="22302F"/>
                </a:solidFill>
                <a:latin typeface="Courier New" pitchFamily="34" charset="0"/>
                <a:ea typeface="Courier New" pitchFamily="34" charset="-122"/>
                <a:cs typeface="Courier New" pitchFamily="34" charset="-120"/>
              </a:rPr>
              <a:t>rejected → pending</a:t>
            </a:r>
            <a:endParaRPr lang="en-US" sz="1250" dirty="0"/>
          </a:p>
        </p:txBody>
      </p:sp>
      <p:sp>
        <p:nvSpPr>
          <p:cNvPr id="8" name="Shape 6"/>
          <p:cNvSpPr/>
          <p:nvPr/>
        </p:nvSpPr>
        <p:spPr>
          <a:xfrm>
            <a:off x="6263640" y="1965960"/>
            <a:ext cx="5257800" cy="1417320"/>
          </a:xfrm>
          <a:prstGeom prst="roundRect">
            <a:avLst>
              <a:gd name="adj" fmla="val 5161"/>
            </a:avLst>
          </a:prstGeom>
          <a:solidFill>
            <a:srgbClr val="FFFFFF"/>
          </a:solidFill>
          <a:ln/>
          <a:effectLst>
            <a:outerShdw sx="100000" sy="100000" kx="0" ky="0" algn="bl" rotWithShape="0" blurRad="101600" dist="38100" dir="5400000">
              <a:srgbClr val="9AA8A5">
                <a:alpha val="28000"/>
              </a:srgbClr>
            </a:outerShdw>
          </a:effectLst>
        </p:spPr>
      </p:sp>
      <p:sp>
        <p:nvSpPr>
          <p:cNvPr id="9" name="Shape 7"/>
          <p:cNvSpPr/>
          <p:nvPr/>
        </p:nvSpPr>
        <p:spPr>
          <a:xfrm>
            <a:off x="6519672" y="2221992"/>
            <a:ext cx="384048" cy="384048"/>
          </a:xfrm>
          <a:prstGeom prst="ellipse">
            <a:avLst/>
          </a:prstGeom>
          <a:solidFill>
            <a:srgbClr val="69A297"/>
          </a:solidFill>
          <a:ln/>
        </p:spPr>
      </p:sp>
      <p:sp>
        <p:nvSpPr>
          <p:cNvPr id="10" name="Text 8"/>
          <p:cNvSpPr/>
          <p:nvPr/>
        </p:nvSpPr>
        <p:spPr>
          <a:xfrm>
            <a:off x="7040880" y="2185416"/>
            <a:ext cx="4251960" cy="457200"/>
          </a:xfrm>
          <a:prstGeom prst="rect">
            <a:avLst/>
          </a:prstGeom>
          <a:noFill/>
          <a:ln/>
        </p:spPr>
        <p:txBody>
          <a:bodyPr wrap="square" lIns="0" tIns="0" rIns="0" bIns="0" rtlCol="0" anchor="ctr"/>
          <a:lstStyle/>
          <a:p>
            <a:pPr indent="0" marL="0">
              <a:buNone/>
            </a:pPr>
            <a:r>
              <a:rPr lang="en-US" sz="1800" b="1" dirty="0">
                <a:solidFill>
                  <a:srgbClr val="2F4A4E"/>
                </a:solidFill>
                <a:latin typeface="Cambria" pitchFamily="34" charset="0"/>
                <a:ea typeface="Cambria" pitchFamily="34" charset="-122"/>
                <a:cs typeface="Cambria" pitchFamily="34" charset="-120"/>
              </a:rPr>
              <a:t>Slot</a:t>
            </a:r>
            <a:endParaRPr lang="en-US" sz="1800" dirty="0"/>
          </a:p>
        </p:txBody>
      </p:sp>
      <p:sp>
        <p:nvSpPr>
          <p:cNvPr id="11" name="Text 9"/>
          <p:cNvSpPr/>
          <p:nvPr/>
        </p:nvSpPr>
        <p:spPr>
          <a:xfrm>
            <a:off x="6537960" y="2743200"/>
            <a:ext cx="4709160" cy="548640"/>
          </a:xfrm>
          <a:prstGeom prst="rect">
            <a:avLst/>
          </a:prstGeom>
          <a:noFill/>
          <a:ln/>
        </p:spPr>
        <p:txBody>
          <a:bodyPr wrap="square" lIns="0" tIns="0" rIns="0" bIns="0" rtlCol="0" anchor="ctr"/>
          <a:lstStyle/>
          <a:p>
            <a:pPr indent="0" marL="0">
              <a:lnSpc>
                <a:spcPct val="105000"/>
              </a:lnSpc>
              <a:buNone/>
            </a:pPr>
            <a:r>
              <a:rPr lang="en-US" sz="1250" dirty="0">
                <a:solidFill>
                  <a:srgbClr val="22302F"/>
                </a:solidFill>
                <a:latin typeface="Courier New" pitchFamily="34" charset="0"/>
                <a:ea typeface="Courier New" pitchFamily="34" charset="-122"/>
                <a:cs typeface="Courier New" pitchFamily="34" charset="-120"/>
              </a:rPr>
              <a:t>open → filled | closed</a:t>
            </a:r>
            <a:endParaRPr lang="en-US" sz="1250" dirty="0"/>
          </a:p>
        </p:txBody>
      </p:sp>
      <p:sp>
        <p:nvSpPr>
          <p:cNvPr id="12" name="Shape 10"/>
          <p:cNvSpPr/>
          <p:nvPr/>
        </p:nvSpPr>
        <p:spPr>
          <a:xfrm>
            <a:off x="640080" y="3657600"/>
            <a:ext cx="5257800" cy="1417320"/>
          </a:xfrm>
          <a:prstGeom prst="roundRect">
            <a:avLst>
              <a:gd name="adj" fmla="val 5161"/>
            </a:avLst>
          </a:prstGeom>
          <a:solidFill>
            <a:srgbClr val="FFFFFF"/>
          </a:solidFill>
          <a:ln/>
          <a:effectLst>
            <a:outerShdw sx="100000" sy="100000" kx="0" ky="0" algn="bl" rotWithShape="0" blurRad="101600" dist="38100" dir="5400000">
              <a:srgbClr val="9AA8A5">
                <a:alpha val="28000"/>
              </a:srgbClr>
            </a:outerShdw>
          </a:effectLst>
        </p:spPr>
      </p:sp>
      <p:sp>
        <p:nvSpPr>
          <p:cNvPr id="13" name="Shape 11"/>
          <p:cNvSpPr/>
          <p:nvPr/>
        </p:nvSpPr>
        <p:spPr>
          <a:xfrm>
            <a:off x="896112" y="3913632"/>
            <a:ext cx="384048" cy="384048"/>
          </a:xfrm>
          <a:prstGeom prst="ellipse">
            <a:avLst/>
          </a:prstGeom>
          <a:solidFill>
            <a:srgbClr val="50808E"/>
          </a:solidFill>
          <a:ln/>
        </p:spPr>
      </p:sp>
      <p:sp>
        <p:nvSpPr>
          <p:cNvPr id="14" name="Text 12"/>
          <p:cNvSpPr/>
          <p:nvPr/>
        </p:nvSpPr>
        <p:spPr>
          <a:xfrm>
            <a:off x="1417320" y="3877056"/>
            <a:ext cx="4251960" cy="457200"/>
          </a:xfrm>
          <a:prstGeom prst="rect">
            <a:avLst/>
          </a:prstGeom>
          <a:noFill/>
          <a:ln/>
        </p:spPr>
        <p:txBody>
          <a:bodyPr wrap="square" lIns="0" tIns="0" rIns="0" bIns="0" rtlCol="0" anchor="ctr"/>
          <a:lstStyle/>
          <a:p>
            <a:pPr indent="0" marL="0">
              <a:buNone/>
            </a:pPr>
            <a:r>
              <a:rPr lang="en-US" sz="1800" b="1" dirty="0">
                <a:solidFill>
                  <a:srgbClr val="2F4A4E"/>
                </a:solidFill>
                <a:latin typeface="Cambria" pitchFamily="34" charset="0"/>
                <a:ea typeface="Cambria" pitchFamily="34" charset="-122"/>
                <a:cs typeface="Cambria" pitchFamily="34" charset="-120"/>
              </a:rPr>
              <a:t>Proposal</a:t>
            </a:r>
            <a:endParaRPr lang="en-US" sz="1800" dirty="0"/>
          </a:p>
        </p:txBody>
      </p:sp>
      <p:sp>
        <p:nvSpPr>
          <p:cNvPr id="15" name="Text 13"/>
          <p:cNvSpPr/>
          <p:nvPr/>
        </p:nvSpPr>
        <p:spPr>
          <a:xfrm>
            <a:off x="914400" y="4434840"/>
            <a:ext cx="4709160" cy="548640"/>
          </a:xfrm>
          <a:prstGeom prst="rect">
            <a:avLst/>
          </a:prstGeom>
          <a:noFill/>
          <a:ln/>
        </p:spPr>
        <p:txBody>
          <a:bodyPr wrap="square" lIns="0" tIns="0" rIns="0" bIns="0" rtlCol="0" anchor="ctr"/>
          <a:lstStyle/>
          <a:p>
            <a:pPr indent="0" marL="0">
              <a:lnSpc>
                <a:spcPct val="105000"/>
              </a:lnSpc>
              <a:buNone/>
            </a:pPr>
            <a:r>
              <a:rPr lang="en-US" sz="1250" dirty="0">
                <a:solidFill>
                  <a:srgbClr val="22302F"/>
                </a:solidFill>
                <a:latin typeface="Courier New" pitchFamily="34" charset="0"/>
                <a:ea typeface="Courier New" pitchFamily="34" charset="-122"/>
                <a:cs typeface="Courier New" pitchFamily="34" charset="-120"/>
              </a:rPr>
              <a:t>submitted → accepted | rejected</a:t>
            </a:r>
            <a:endParaRPr lang="en-US" sz="1250" dirty="0"/>
          </a:p>
        </p:txBody>
      </p:sp>
      <p:sp>
        <p:nvSpPr>
          <p:cNvPr id="16" name="Shape 14"/>
          <p:cNvSpPr/>
          <p:nvPr/>
        </p:nvSpPr>
        <p:spPr>
          <a:xfrm>
            <a:off x="6263640" y="3657600"/>
            <a:ext cx="5257800" cy="1417320"/>
          </a:xfrm>
          <a:prstGeom prst="roundRect">
            <a:avLst>
              <a:gd name="adj" fmla="val 5161"/>
            </a:avLst>
          </a:prstGeom>
          <a:solidFill>
            <a:srgbClr val="FFFFFF"/>
          </a:solidFill>
          <a:ln/>
          <a:effectLst>
            <a:outerShdw sx="100000" sy="100000" kx="0" ky="0" algn="bl" rotWithShape="0" blurRad="101600" dist="38100" dir="5400000">
              <a:srgbClr val="9AA8A5">
                <a:alpha val="28000"/>
              </a:srgbClr>
            </a:outerShdw>
          </a:effectLst>
        </p:spPr>
      </p:sp>
      <p:sp>
        <p:nvSpPr>
          <p:cNvPr id="17" name="Shape 15"/>
          <p:cNvSpPr/>
          <p:nvPr/>
        </p:nvSpPr>
        <p:spPr>
          <a:xfrm>
            <a:off x="6519672" y="3913632"/>
            <a:ext cx="384048" cy="384048"/>
          </a:xfrm>
          <a:prstGeom prst="ellipse">
            <a:avLst/>
          </a:prstGeom>
          <a:solidFill>
            <a:srgbClr val="2F4A4E"/>
          </a:solidFill>
          <a:ln/>
        </p:spPr>
      </p:sp>
      <p:sp>
        <p:nvSpPr>
          <p:cNvPr id="18" name="Text 16"/>
          <p:cNvSpPr/>
          <p:nvPr/>
        </p:nvSpPr>
        <p:spPr>
          <a:xfrm>
            <a:off x="7040880" y="3877056"/>
            <a:ext cx="4251960" cy="457200"/>
          </a:xfrm>
          <a:prstGeom prst="rect">
            <a:avLst/>
          </a:prstGeom>
          <a:noFill/>
          <a:ln/>
        </p:spPr>
        <p:txBody>
          <a:bodyPr wrap="square" lIns="0" tIns="0" rIns="0" bIns="0" rtlCol="0" anchor="ctr"/>
          <a:lstStyle/>
          <a:p>
            <a:pPr indent="0" marL="0">
              <a:buNone/>
            </a:pPr>
            <a:r>
              <a:rPr lang="en-US" sz="1800" b="1" dirty="0">
                <a:solidFill>
                  <a:srgbClr val="2F4A4E"/>
                </a:solidFill>
                <a:latin typeface="Cambria" pitchFamily="34" charset="0"/>
                <a:ea typeface="Cambria" pitchFamily="34" charset="-122"/>
                <a:cs typeface="Cambria" pitchFamily="34" charset="-120"/>
              </a:rPr>
              <a:t>Event</a:t>
            </a:r>
            <a:endParaRPr lang="en-US" sz="1800" dirty="0"/>
          </a:p>
        </p:txBody>
      </p:sp>
      <p:sp>
        <p:nvSpPr>
          <p:cNvPr id="19" name="Text 17"/>
          <p:cNvSpPr/>
          <p:nvPr/>
        </p:nvSpPr>
        <p:spPr>
          <a:xfrm>
            <a:off x="6537960" y="4434840"/>
            <a:ext cx="4709160" cy="548640"/>
          </a:xfrm>
          <a:prstGeom prst="rect">
            <a:avLst/>
          </a:prstGeom>
          <a:noFill/>
          <a:ln/>
        </p:spPr>
        <p:txBody>
          <a:bodyPr wrap="square" lIns="0" tIns="0" rIns="0" bIns="0" rtlCol="0" anchor="ctr"/>
          <a:lstStyle/>
          <a:p>
            <a:pPr indent="0" marL="0">
              <a:lnSpc>
                <a:spcPct val="105000"/>
              </a:lnSpc>
              <a:buNone/>
            </a:pPr>
            <a:r>
              <a:rPr lang="en-US" sz="1250" dirty="0">
                <a:solidFill>
                  <a:srgbClr val="22302F"/>
                </a:solidFill>
                <a:latin typeface="Courier New" pitchFamily="34" charset="0"/>
                <a:ea typeface="Courier New" pitchFamily="34" charset="-122"/>
                <a:cs typeface="Courier New" pitchFamily="34" charset="-120"/>
              </a:rPr>
              <a:t>created → published → completed</a:t>
            </a:r>
            <a:endParaRPr lang="en-US" sz="1250" dirty="0"/>
          </a:p>
        </p:txBody>
      </p:sp>
      <p:sp>
        <p:nvSpPr>
          <p:cNvPr id="20" name="Text 18"/>
          <p:cNvSpPr/>
          <p:nvPr/>
        </p:nvSpPr>
        <p:spPr>
          <a:xfrm>
            <a:off x="640080" y="5806440"/>
            <a:ext cx="10881360" cy="457200"/>
          </a:xfrm>
          <a:prstGeom prst="rect">
            <a:avLst/>
          </a:prstGeom>
          <a:noFill/>
          <a:ln/>
        </p:spPr>
        <p:txBody>
          <a:bodyPr wrap="square" lIns="0" tIns="0" rIns="0" bIns="0" rtlCol="0" anchor="ctr"/>
          <a:lstStyle/>
          <a:p>
            <a:pPr indent="0" marL="0">
              <a:buNone/>
            </a:pPr>
            <a:r>
              <a:rPr lang="en-US" sz="1300" i="1" dirty="0">
                <a:solidFill>
                  <a:srgbClr val="6B7A78"/>
                </a:solidFill>
                <a:latin typeface="Calibri" pitchFamily="34" charset="0"/>
                <a:ea typeface="Calibri" pitchFamily="34" charset="-122"/>
                <a:cs typeface="Calibri" pitchFamily="34" charset="-120"/>
              </a:rPr>
              <a:t>Las factorías fuerzan el estado inicial; las transiciones rechazan cambios ilegales. Reglas de dominio testeadas sin framework ni base de datos.</a:t>
            </a:r>
            <a:endParaRPr lang="en-US" sz="1300" dirty="0"/>
          </a:p>
        </p:txBody>
      </p:sp>
      <p:sp>
        <p:nvSpPr>
          <p:cNvPr id="21" name="Text 19"/>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INVARIANTE CRÍTICO</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Aceptar una propuesta resuelve el Slot entero</a:t>
            </a:r>
            <a:endParaRPr lang="en-US" sz="3000" dirty="0"/>
          </a:p>
        </p:txBody>
      </p:sp>
      <p:sp>
        <p:nvSpPr>
          <p:cNvPr id="4" name="Text 2"/>
          <p:cNvSpPr/>
          <p:nvPr/>
        </p:nvSpPr>
        <p:spPr>
          <a:xfrm>
            <a:off x="640080" y="1874520"/>
            <a:ext cx="10881360" cy="365760"/>
          </a:xfrm>
          <a:prstGeom prst="rect">
            <a:avLst/>
          </a:prstGeom>
          <a:noFill/>
          <a:ln/>
        </p:spPr>
        <p:txBody>
          <a:bodyPr wrap="square" lIns="0" tIns="0" rIns="0" bIns="0" rtlCol="0" anchor="ctr"/>
          <a:lstStyle/>
          <a:p>
            <a:pPr indent="0" marL="0">
              <a:buNone/>
            </a:pPr>
            <a:r>
              <a:rPr lang="en-US" sz="1400" dirty="0">
                <a:solidFill>
                  <a:srgbClr val="6B7A78"/>
                </a:solidFill>
                <a:latin typeface="Calibri" pitchFamily="34" charset="0"/>
                <a:ea typeface="Calibri" pitchFamily="34" charset="-122"/>
                <a:cs typeface="Calibri" pitchFamily="34" charset="-120"/>
              </a:rPr>
              <a:t>Precondiciones: centro propietario activo · Slot abierto · propuesta enviada que coincide.</a:t>
            </a:r>
            <a:endParaRPr lang="en-US" sz="1400" dirty="0"/>
          </a:p>
        </p:txBody>
      </p:sp>
      <p:sp>
        <p:nvSpPr>
          <p:cNvPr id="5" name="Shape 3"/>
          <p:cNvSpPr/>
          <p:nvPr/>
        </p:nvSpPr>
        <p:spPr>
          <a:xfrm>
            <a:off x="640080" y="2377440"/>
            <a:ext cx="25146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6" name="Text 4"/>
          <p:cNvSpPr/>
          <p:nvPr/>
        </p:nvSpPr>
        <p:spPr>
          <a:xfrm>
            <a:off x="777240" y="2560320"/>
            <a:ext cx="2240280" cy="457200"/>
          </a:xfrm>
          <a:prstGeom prst="rect">
            <a:avLst/>
          </a:prstGeom>
          <a:noFill/>
          <a:ln/>
        </p:spPr>
        <p:txBody>
          <a:bodyPr wrap="square" lIns="0" tIns="0" rIns="0" bIns="0" rtlCol="0" anchor="ctr"/>
          <a:lstStyle/>
          <a:p>
            <a:pPr algn="ctr" indent="0" marL="0">
              <a:buNone/>
            </a:pPr>
            <a:r>
              <a:rPr lang="en-US" sz="1350" b="1" dirty="0">
                <a:solidFill>
                  <a:srgbClr val="2F4A4E"/>
                </a:solidFill>
                <a:latin typeface="Calibri" pitchFamily="34" charset="0"/>
                <a:ea typeface="Calibri" pitchFamily="34" charset="-122"/>
                <a:cs typeface="Calibri" pitchFamily="34" charset="-120"/>
              </a:rPr>
              <a:t>Propuesta elegida</a:t>
            </a:r>
            <a:endParaRPr lang="en-US" sz="1350" dirty="0"/>
          </a:p>
        </p:txBody>
      </p:sp>
      <p:sp>
        <p:nvSpPr>
          <p:cNvPr id="7" name="Text 5"/>
          <p:cNvSpPr/>
          <p:nvPr/>
        </p:nvSpPr>
        <p:spPr>
          <a:xfrm>
            <a:off x="777240" y="3035808"/>
            <a:ext cx="2240280" cy="365760"/>
          </a:xfrm>
          <a:prstGeom prst="rect">
            <a:avLst/>
          </a:prstGeom>
          <a:noFill/>
          <a:ln/>
        </p:spPr>
        <p:txBody>
          <a:bodyPr wrap="square" lIns="0" tIns="0" rIns="0" bIns="0" rtlCol="0" anchor="ctr"/>
          <a:lstStyle/>
          <a:p>
            <a:pPr algn="ctr" indent="0" marL="0">
              <a:buNone/>
            </a:pPr>
            <a:r>
              <a:rPr lang="en-US" sz="1400" b="1" dirty="0">
                <a:solidFill>
                  <a:srgbClr val="69A297"/>
                </a:solidFill>
                <a:latin typeface="Courier New" pitchFamily="34" charset="0"/>
                <a:ea typeface="Courier New" pitchFamily="34" charset="-122"/>
                <a:cs typeface="Courier New" pitchFamily="34" charset="-120"/>
              </a:rPr>
              <a:t>→ accepted</a:t>
            </a:r>
            <a:endParaRPr lang="en-US" sz="1400" dirty="0"/>
          </a:p>
        </p:txBody>
      </p:sp>
      <p:sp>
        <p:nvSpPr>
          <p:cNvPr id="8" name="Shape 6"/>
          <p:cNvSpPr/>
          <p:nvPr/>
        </p:nvSpPr>
        <p:spPr>
          <a:xfrm>
            <a:off x="3429000" y="2377440"/>
            <a:ext cx="25146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9" name="Text 7"/>
          <p:cNvSpPr/>
          <p:nvPr/>
        </p:nvSpPr>
        <p:spPr>
          <a:xfrm>
            <a:off x="3566160" y="2560320"/>
            <a:ext cx="2240280" cy="457200"/>
          </a:xfrm>
          <a:prstGeom prst="rect">
            <a:avLst/>
          </a:prstGeom>
          <a:noFill/>
          <a:ln/>
        </p:spPr>
        <p:txBody>
          <a:bodyPr wrap="square" lIns="0" tIns="0" rIns="0" bIns="0" rtlCol="0" anchor="ctr"/>
          <a:lstStyle/>
          <a:p>
            <a:pPr algn="ctr" indent="0" marL="0">
              <a:buNone/>
            </a:pPr>
            <a:r>
              <a:rPr lang="en-US" sz="1350" b="1" dirty="0">
                <a:solidFill>
                  <a:srgbClr val="2F4A4E"/>
                </a:solidFill>
                <a:latin typeface="Calibri" pitchFamily="34" charset="0"/>
                <a:ea typeface="Calibri" pitchFamily="34" charset="-122"/>
                <a:cs typeface="Calibri" pitchFamily="34" charset="-120"/>
              </a:rPr>
              <a:t>Slot</a:t>
            </a:r>
            <a:endParaRPr lang="en-US" sz="1350" dirty="0"/>
          </a:p>
        </p:txBody>
      </p:sp>
      <p:sp>
        <p:nvSpPr>
          <p:cNvPr id="10" name="Text 8"/>
          <p:cNvSpPr/>
          <p:nvPr/>
        </p:nvSpPr>
        <p:spPr>
          <a:xfrm>
            <a:off x="3566160" y="3035808"/>
            <a:ext cx="2240280" cy="365760"/>
          </a:xfrm>
          <a:prstGeom prst="rect">
            <a:avLst/>
          </a:prstGeom>
          <a:noFill/>
          <a:ln/>
        </p:spPr>
        <p:txBody>
          <a:bodyPr wrap="square" lIns="0" tIns="0" rIns="0" bIns="0" rtlCol="0" anchor="ctr"/>
          <a:lstStyle/>
          <a:p>
            <a:pPr algn="ctr" indent="0" marL="0">
              <a:buNone/>
            </a:pPr>
            <a:r>
              <a:rPr lang="en-US" sz="1400" b="1" dirty="0">
                <a:solidFill>
                  <a:srgbClr val="69A297"/>
                </a:solidFill>
                <a:latin typeface="Courier New" pitchFamily="34" charset="0"/>
                <a:ea typeface="Courier New" pitchFamily="34" charset="-122"/>
                <a:cs typeface="Courier New" pitchFamily="34" charset="-120"/>
              </a:rPr>
              <a:t>→ filled</a:t>
            </a:r>
            <a:endParaRPr lang="en-US" sz="1400" dirty="0"/>
          </a:p>
        </p:txBody>
      </p:sp>
      <p:sp>
        <p:nvSpPr>
          <p:cNvPr id="11" name="Shape 9"/>
          <p:cNvSpPr/>
          <p:nvPr/>
        </p:nvSpPr>
        <p:spPr>
          <a:xfrm>
            <a:off x="6217920" y="2377440"/>
            <a:ext cx="25146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12" name="Text 10"/>
          <p:cNvSpPr/>
          <p:nvPr/>
        </p:nvSpPr>
        <p:spPr>
          <a:xfrm>
            <a:off x="6355080" y="2560320"/>
            <a:ext cx="2240280" cy="457200"/>
          </a:xfrm>
          <a:prstGeom prst="rect">
            <a:avLst/>
          </a:prstGeom>
          <a:noFill/>
          <a:ln/>
        </p:spPr>
        <p:txBody>
          <a:bodyPr wrap="square" lIns="0" tIns="0" rIns="0" bIns="0" rtlCol="0" anchor="ctr"/>
          <a:lstStyle/>
          <a:p>
            <a:pPr algn="ctr" indent="0" marL="0">
              <a:buNone/>
            </a:pPr>
            <a:r>
              <a:rPr lang="en-US" sz="1350" b="1" dirty="0">
                <a:solidFill>
                  <a:srgbClr val="2F4A4E"/>
                </a:solidFill>
                <a:latin typeface="Calibri" pitchFamily="34" charset="0"/>
                <a:ea typeface="Calibri" pitchFamily="34" charset="-122"/>
                <a:cs typeface="Calibri" pitchFamily="34" charset="-120"/>
              </a:rPr>
              <a:t>Rivales enviadas</a:t>
            </a:r>
            <a:endParaRPr lang="en-US" sz="1350" dirty="0"/>
          </a:p>
        </p:txBody>
      </p:sp>
      <p:sp>
        <p:nvSpPr>
          <p:cNvPr id="13" name="Text 11"/>
          <p:cNvSpPr/>
          <p:nvPr/>
        </p:nvSpPr>
        <p:spPr>
          <a:xfrm>
            <a:off x="6355080" y="3035808"/>
            <a:ext cx="2240280" cy="365760"/>
          </a:xfrm>
          <a:prstGeom prst="rect">
            <a:avLst/>
          </a:prstGeom>
          <a:noFill/>
          <a:ln/>
        </p:spPr>
        <p:txBody>
          <a:bodyPr wrap="square" lIns="0" tIns="0" rIns="0" bIns="0" rtlCol="0" anchor="ctr"/>
          <a:lstStyle/>
          <a:p>
            <a:pPr algn="ctr" indent="0" marL="0">
              <a:buNone/>
            </a:pPr>
            <a:r>
              <a:rPr lang="en-US" sz="1400" b="1" dirty="0">
                <a:solidFill>
                  <a:srgbClr val="69A297"/>
                </a:solidFill>
                <a:latin typeface="Courier New" pitchFamily="34" charset="0"/>
                <a:ea typeface="Courier New" pitchFamily="34" charset="-122"/>
                <a:cs typeface="Courier New" pitchFamily="34" charset="-120"/>
              </a:rPr>
              <a:t>→ rejected</a:t>
            </a:r>
            <a:endParaRPr lang="en-US" sz="1400" dirty="0"/>
          </a:p>
        </p:txBody>
      </p:sp>
      <p:sp>
        <p:nvSpPr>
          <p:cNvPr id="14" name="Shape 12"/>
          <p:cNvSpPr/>
          <p:nvPr/>
        </p:nvSpPr>
        <p:spPr>
          <a:xfrm>
            <a:off x="9006840" y="2377440"/>
            <a:ext cx="2514600" cy="1143000"/>
          </a:xfrm>
          <a:prstGeom prst="roundRect">
            <a:avLst>
              <a:gd name="adj" fmla="val 6400"/>
            </a:avLst>
          </a:prstGeom>
          <a:solidFill>
            <a:srgbClr val="FFFFFF"/>
          </a:solidFill>
          <a:ln/>
          <a:effectLst>
            <a:outerShdw sx="100000" sy="100000" kx="0" ky="0" algn="bl" rotWithShape="0" blurRad="101600" dist="38100" dir="5400000">
              <a:srgbClr val="9AA8A5">
                <a:alpha val="28000"/>
              </a:srgbClr>
            </a:outerShdw>
          </a:effectLst>
        </p:spPr>
      </p:sp>
      <p:sp>
        <p:nvSpPr>
          <p:cNvPr id="15" name="Text 13"/>
          <p:cNvSpPr/>
          <p:nvPr/>
        </p:nvSpPr>
        <p:spPr>
          <a:xfrm>
            <a:off x="9144000" y="2560320"/>
            <a:ext cx="2240280" cy="457200"/>
          </a:xfrm>
          <a:prstGeom prst="rect">
            <a:avLst/>
          </a:prstGeom>
          <a:noFill/>
          <a:ln/>
        </p:spPr>
        <p:txBody>
          <a:bodyPr wrap="square" lIns="0" tIns="0" rIns="0" bIns="0" rtlCol="0" anchor="ctr"/>
          <a:lstStyle/>
          <a:p>
            <a:pPr algn="ctr" indent="0" marL="0">
              <a:buNone/>
            </a:pPr>
            <a:r>
              <a:rPr lang="en-US" sz="1350" b="1" dirty="0">
                <a:solidFill>
                  <a:srgbClr val="2F4A4E"/>
                </a:solidFill>
                <a:latin typeface="Calibri" pitchFamily="34" charset="0"/>
                <a:ea typeface="Calibri" pitchFamily="34" charset="-122"/>
                <a:cs typeface="Calibri" pitchFamily="34" charset="-120"/>
              </a:rPr>
              <a:t>Nuevo Evento</a:t>
            </a:r>
            <a:endParaRPr lang="en-US" sz="1350" dirty="0"/>
          </a:p>
        </p:txBody>
      </p:sp>
      <p:sp>
        <p:nvSpPr>
          <p:cNvPr id="16" name="Text 14"/>
          <p:cNvSpPr/>
          <p:nvPr/>
        </p:nvSpPr>
        <p:spPr>
          <a:xfrm>
            <a:off x="9144000" y="3035808"/>
            <a:ext cx="2240280" cy="365760"/>
          </a:xfrm>
          <a:prstGeom prst="rect">
            <a:avLst/>
          </a:prstGeom>
          <a:noFill/>
          <a:ln/>
        </p:spPr>
        <p:txBody>
          <a:bodyPr wrap="square" lIns="0" tIns="0" rIns="0" bIns="0" rtlCol="0" anchor="ctr"/>
          <a:lstStyle/>
          <a:p>
            <a:pPr algn="ctr" indent="0" marL="0">
              <a:buNone/>
            </a:pPr>
            <a:r>
              <a:rPr lang="en-US" sz="1400" b="1" dirty="0">
                <a:solidFill>
                  <a:srgbClr val="69A297"/>
                </a:solidFill>
                <a:latin typeface="Courier New" pitchFamily="34" charset="0"/>
                <a:ea typeface="Courier New" pitchFamily="34" charset="-122"/>
                <a:cs typeface="Courier New" pitchFamily="34" charset="-120"/>
              </a:rPr>
              <a:t>→ published</a:t>
            </a:r>
            <a:endParaRPr lang="en-US" sz="1400" dirty="0"/>
          </a:p>
        </p:txBody>
      </p:sp>
      <p:sp>
        <p:nvSpPr>
          <p:cNvPr id="17" name="Text 15"/>
          <p:cNvSpPr/>
          <p:nvPr/>
        </p:nvSpPr>
        <p:spPr>
          <a:xfrm>
            <a:off x="640080" y="3703320"/>
            <a:ext cx="10881360" cy="365760"/>
          </a:xfrm>
          <a:prstGeom prst="rect">
            <a:avLst/>
          </a:prstGeom>
          <a:noFill/>
          <a:ln/>
        </p:spPr>
        <p:txBody>
          <a:bodyPr wrap="square" lIns="0" tIns="0" rIns="0" bIns="0" rtlCol="0" anchor="ctr"/>
          <a:lstStyle/>
          <a:p>
            <a:pPr indent="0" marL="0">
              <a:buNone/>
            </a:pPr>
            <a:r>
              <a:rPr lang="en-US" sz="1350" i="1" dirty="0">
                <a:solidFill>
                  <a:srgbClr val="6B7A78"/>
                </a:solidFill>
                <a:latin typeface="Calibri" pitchFamily="34" charset="0"/>
                <a:ea typeface="Calibri" pitchFamily="34" charset="-122"/>
                <a:cs typeface="Calibri" pitchFamily="34" charset="-120"/>
              </a:rPr>
              <a:t>Una operación pura, cuatro resultados. Cerrar un Slot rechaza igualmente cada propuesta enviada.</a:t>
            </a:r>
            <a:endParaRPr lang="en-US" sz="1350" dirty="0"/>
          </a:p>
        </p:txBody>
      </p:sp>
      <p:sp>
        <p:nvSpPr>
          <p:cNvPr id="18" name="Shape 16"/>
          <p:cNvSpPr/>
          <p:nvPr/>
        </p:nvSpPr>
        <p:spPr>
          <a:xfrm>
            <a:off x="640080" y="4297680"/>
            <a:ext cx="10881360" cy="777240"/>
          </a:xfrm>
          <a:prstGeom prst="roundRect">
            <a:avLst>
              <a:gd name="adj" fmla="val 9412"/>
            </a:avLst>
          </a:prstGeom>
          <a:solidFill>
            <a:srgbClr val="1E2B2D"/>
          </a:solidFill>
          <a:ln/>
        </p:spPr>
      </p:sp>
      <p:sp>
        <p:nvSpPr>
          <p:cNvPr id="19" name="Text 17"/>
          <p:cNvSpPr/>
          <p:nvPr/>
        </p:nvSpPr>
        <p:spPr>
          <a:xfrm>
            <a:off x="822960" y="4407408"/>
            <a:ext cx="10515600" cy="557784"/>
          </a:xfrm>
          <a:prstGeom prst="rect">
            <a:avLst/>
          </a:prstGeom>
          <a:noFill/>
          <a:ln/>
        </p:spPr>
        <p:txBody>
          <a:bodyPr wrap="square" lIns="0" tIns="0" rIns="0" bIns="0" rtlCol="0" anchor="ctr"/>
          <a:lstStyle/>
          <a:p>
            <a:pPr indent="0" marL="0">
              <a:lnSpc>
                <a:spcPct val="105000"/>
              </a:lnSpc>
              <a:buNone/>
            </a:pPr>
            <a:r>
              <a:rPr lang="en-US" sz="1250" dirty="0">
                <a:solidFill>
                  <a:srgbClr val="CFE3DC"/>
                </a:solidFill>
                <a:latin typeface="Courier New" pitchFamily="34" charset="0"/>
                <a:ea typeface="Courier New" pitchFamily="34" charset="-122"/>
                <a:cs typeface="Courier New" pitchFamily="34" charset="-120"/>
              </a:rPr>
              <a:t>lock Slot primero  →  releer Slot + todas las propuestas  →  decisión pura  →  persistencia atómica</a:t>
            </a:r>
            <a:endParaRPr lang="en-US" sz="1250" dirty="0"/>
          </a:p>
        </p:txBody>
      </p:sp>
      <p:sp>
        <p:nvSpPr>
          <p:cNvPr id="20" name="Text 18"/>
          <p:cNvSpPr/>
          <p:nvPr/>
        </p:nvSpPr>
        <p:spPr>
          <a:xfrm>
            <a:off x="640080" y="5257800"/>
            <a:ext cx="10881360" cy="640080"/>
          </a:xfrm>
          <a:prstGeom prst="rect">
            <a:avLst/>
          </a:prstGeom>
          <a:noFill/>
          <a:ln/>
        </p:spPr>
        <p:txBody>
          <a:bodyPr wrap="square" lIns="0" tIns="0" rIns="0" bIns="0" rtlCol="0" anchor="ctr"/>
          <a:lstStyle/>
          <a:p>
            <a:pPr indent="0" marL="0">
              <a:lnSpc>
                <a:spcPct val="105000"/>
              </a:lnSpc>
              <a:buNone/>
            </a:pPr>
            <a:r>
              <a:rPr lang="en-US" sz="1350" b="1" dirty="0">
                <a:solidFill>
                  <a:srgbClr val="2F4A4E"/>
                </a:solidFill>
                <a:latin typeface="Calibri" pitchFamily="34" charset="0"/>
                <a:ea typeface="Calibri" pitchFamily="34" charset="-122"/>
                <a:cs typeface="Calibri" pitchFamily="34" charset="-120"/>
              </a:rPr>
              <a:t>Nueve escenarios de carrera forzados con barreras en ambos órdenes, ejecutados contra PostgreSQL real en CI — no contra dobles en memoria.</a:t>
            </a:r>
            <a:endParaRPr lang="en-US" sz="1350" dirty="0"/>
          </a:p>
        </p:txBody>
      </p:sp>
      <p:sp>
        <p:nvSpPr>
          <p:cNvPr id="21" name="Text 19"/>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PROCESO</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Spec-Driven Development</a:t>
            </a:r>
            <a:endParaRPr lang="en-US" sz="3000" dirty="0"/>
          </a:p>
        </p:txBody>
      </p:sp>
      <p:sp>
        <p:nvSpPr>
          <p:cNvPr id="4" name="Shape 2"/>
          <p:cNvSpPr/>
          <p:nvPr/>
        </p:nvSpPr>
        <p:spPr>
          <a:xfrm>
            <a:off x="640080" y="2103120"/>
            <a:ext cx="1481328" cy="731520"/>
          </a:xfrm>
          <a:prstGeom prst="roundRect">
            <a:avLst>
              <a:gd name="adj" fmla="val 10000"/>
            </a:avLst>
          </a:prstGeom>
          <a:solidFill>
            <a:srgbClr val="84B59F"/>
          </a:solidFill>
          <a:ln/>
        </p:spPr>
      </p:sp>
      <p:sp>
        <p:nvSpPr>
          <p:cNvPr id="5" name="Text 3"/>
          <p:cNvSpPr/>
          <p:nvPr/>
        </p:nvSpPr>
        <p:spPr>
          <a:xfrm>
            <a:off x="685800" y="2103120"/>
            <a:ext cx="1389888"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Propuesta</a:t>
            </a:r>
            <a:endParaRPr lang="en-US" sz="1150" dirty="0"/>
          </a:p>
        </p:txBody>
      </p:sp>
      <p:sp>
        <p:nvSpPr>
          <p:cNvPr id="6" name="Shape 4"/>
          <p:cNvSpPr/>
          <p:nvPr/>
        </p:nvSpPr>
        <p:spPr>
          <a:xfrm>
            <a:off x="2231136" y="2103120"/>
            <a:ext cx="1481328" cy="731520"/>
          </a:xfrm>
          <a:prstGeom prst="roundRect">
            <a:avLst>
              <a:gd name="adj" fmla="val 10000"/>
            </a:avLst>
          </a:prstGeom>
          <a:solidFill>
            <a:srgbClr val="69A297"/>
          </a:solidFill>
          <a:ln/>
        </p:spPr>
      </p:sp>
      <p:sp>
        <p:nvSpPr>
          <p:cNvPr id="7" name="Text 5"/>
          <p:cNvSpPr/>
          <p:nvPr/>
        </p:nvSpPr>
        <p:spPr>
          <a:xfrm>
            <a:off x="2276856" y="2103120"/>
            <a:ext cx="1389888"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Especificaciones</a:t>
            </a:r>
            <a:endParaRPr lang="en-US" sz="1150" dirty="0"/>
          </a:p>
        </p:txBody>
      </p:sp>
      <p:sp>
        <p:nvSpPr>
          <p:cNvPr id="8" name="Shape 6"/>
          <p:cNvSpPr/>
          <p:nvPr/>
        </p:nvSpPr>
        <p:spPr>
          <a:xfrm>
            <a:off x="3822192" y="2103120"/>
            <a:ext cx="1481328" cy="731520"/>
          </a:xfrm>
          <a:prstGeom prst="roundRect">
            <a:avLst>
              <a:gd name="adj" fmla="val 10000"/>
            </a:avLst>
          </a:prstGeom>
          <a:solidFill>
            <a:srgbClr val="84B59F"/>
          </a:solidFill>
          <a:ln/>
        </p:spPr>
      </p:sp>
      <p:sp>
        <p:nvSpPr>
          <p:cNvPr id="9" name="Text 7"/>
          <p:cNvSpPr/>
          <p:nvPr/>
        </p:nvSpPr>
        <p:spPr>
          <a:xfrm>
            <a:off x="3867912" y="2103120"/>
            <a:ext cx="1389888"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Diseño / ADRs</a:t>
            </a:r>
            <a:endParaRPr lang="en-US" sz="1150" dirty="0"/>
          </a:p>
        </p:txBody>
      </p:sp>
      <p:sp>
        <p:nvSpPr>
          <p:cNvPr id="10" name="Shape 8"/>
          <p:cNvSpPr/>
          <p:nvPr/>
        </p:nvSpPr>
        <p:spPr>
          <a:xfrm>
            <a:off x="5413248" y="2103120"/>
            <a:ext cx="1481328" cy="731520"/>
          </a:xfrm>
          <a:prstGeom prst="roundRect">
            <a:avLst>
              <a:gd name="adj" fmla="val 10000"/>
            </a:avLst>
          </a:prstGeom>
          <a:solidFill>
            <a:srgbClr val="69A297"/>
          </a:solidFill>
          <a:ln/>
        </p:spPr>
      </p:sp>
      <p:sp>
        <p:nvSpPr>
          <p:cNvPr id="11" name="Text 9"/>
          <p:cNvSpPr/>
          <p:nvPr/>
        </p:nvSpPr>
        <p:spPr>
          <a:xfrm>
            <a:off x="5458968" y="2103120"/>
            <a:ext cx="1389888"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Plan de tareas</a:t>
            </a:r>
            <a:endParaRPr lang="en-US" sz="1150" dirty="0"/>
          </a:p>
        </p:txBody>
      </p:sp>
      <p:sp>
        <p:nvSpPr>
          <p:cNvPr id="12" name="Shape 10"/>
          <p:cNvSpPr/>
          <p:nvPr/>
        </p:nvSpPr>
        <p:spPr>
          <a:xfrm>
            <a:off x="7004304" y="2103120"/>
            <a:ext cx="1481328" cy="731520"/>
          </a:xfrm>
          <a:prstGeom prst="roundRect">
            <a:avLst>
              <a:gd name="adj" fmla="val 10000"/>
            </a:avLst>
          </a:prstGeom>
          <a:solidFill>
            <a:srgbClr val="84B59F"/>
          </a:solidFill>
          <a:ln/>
        </p:spPr>
      </p:sp>
      <p:sp>
        <p:nvSpPr>
          <p:cNvPr id="13" name="Text 11"/>
          <p:cNvSpPr/>
          <p:nvPr/>
        </p:nvSpPr>
        <p:spPr>
          <a:xfrm>
            <a:off x="7050024" y="2103120"/>
            <a:ext cx="1389888"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Implementación</a:t>
            </a:r>
            <a:endParaRPr lang="en-US" sz="1150" dirty="0"/>
          </a:p>
        </p:txBody>
      </p:sp>
      <p:sp>
        <p:nvSpPr>
          <p:cNvPr id="14" name="Shape 12"/>
          <p:cNvSpPr/>
          <p:nvPr/>
        </p:nvSpPr>
        <p:spPr>
          <a:xfrm>
            <a:off x="8595360" y="2103120"/>
            <a:ext cx="1481328" cy="731520"/>
          </a:xfrm>
          <a:prstGeom prst="roundRect">
            <a:avLst>
              <a:gd name="adj" fmla="val 10000"/>
            </a:avLst>
          </a:prstGeom>
          <a:solidFill>
            <a:srgbClr val="69A297"/>
          </a:solidFill>
          <a:ln/>
        </p:spPr>
      </p:sp>
      <p:sp>
        <p:nvSpPr>
          <p:cNvPr id="15" name="Text 13"/>
          <p:cNvSpPr/>
          <p:nvPr/>
        </p:nvSpPr>
        <p:spPr>
          <a:xfrm>
            <a:off x="8641080" y="2103120"/>
            <a:ext cx="1389888"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Verificación</a:t>
            </a:r>
            <a:endParaRPr lang="en-US" sz="1150" dirty="0"/>
          </a:p>
        </p:txBody>
      </p:sp>
      <p:sp>
        <p:nvSpPr>
          <p:cNvPr id="16" name="Shape 14"/>
          <p:cNvSpPr/>
          <p:nvPr/>
        </p:nvSpPr>
        <p:spPr>
          <a:xfrm>
            <a:off x="10186416" y="2103120"/>
            <a:ext cx="1481328" cy="731520"/>
          </a:xfrm>
          <a:prstGeom prst="roundRect">
            <a:avLst>
              <a:gd name="adj" fmla="val 10000"/>
            </a:avLst>
          </a:prstGeom>
          <a:solidFill>
            <a:srgbClr val="84B59F"/>
          </a:solidFill>
          <a:ln/>
        </p:spPr>
      </p:sp>
      <p:sp>
        <p:nvSpPr>
          <p:cNvPr id="17" name="Text 15"/>
          <p:cNvSpPr/>
          <p:nvPr/>
        </p:nvSpPr>
        <p:spPr>
          <a:xfrm>
            <a:off x="10232136" y="2103120"/>
            <a:ext cx="1389888"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Revisión</a:t>
            </a:r>
            <a:endParaRPr lang="en-US" sz="1150" dirty="0"/>
          </a:p>
        </p:txBody>
      </p:sp>
      <p:sp>
        <p:nvSpPr>
          <p:cNvPr id="18" name="Text 16"/>
          <p:cNvSpPr/>
          <p:nvPr/>
        </p:nvSpPr>
        <p:spPr>
          <a:xfrm>
            <a:off x="640080" y="3200400"/>
            <a:ext cx="10881360" cy="237744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22302F"/>
                </a:solidFill>
                <a:latin typeface="Calibri" pitchFamily="34" charset="0"/>
                <a:ea typeface="Calibri" pitchFamily="34" charset="-122"/>
                <a:cs typeface="Calibri" pitchFamily="34" charset="-120"/>
              </a:rPr>
              <a:t>La propuesta define problema, alcance y criterios de éxito.</a:t>
            </a:r>
            <a:endParaRPr lang="en-US" sz="1500" dirty="0"/>
          </a:p>
          <a:p>
            <a:pPr marL="203200" indent="-203200">
              <a:spcAft>
                <a:spcPts val="1200"/>
              </a:spcAft>
              <a:buSzPct val="100000"/>
              <a:buChar char="•"/>
            </a:pPr>
            <a:r>
              <a:rPr lang="en-US" sz="1500" dirty="0">
                <a:solidFill>
                  <a:srgbClr val="22302F"/>
                </a:solidFill>
                <a:latin typeface="Calibri" pitchFamily="34" charset="0"/>
                <a:ea typeface="Calibri" pitchFamily="34" charset="-122"/>
                <a:cs typeface="Calibri" pitchFamily="34" charset="-120"/>
              </a:rPr>
              <a:t>Las especificaciones usan escenarios concretos Given/When/Then.</a:t>
            </a:r>
            <a:endParaRPr lang="en-US" sz="1500" dirty="0"/>
          </a:p>
          <a:p>
            <a:pPr marL="203200" indent="-203200">
              <a:spcAft>
                <a:spcPts val="1200"/>
              </a:spcAft>
              <a:buSzPct val="100000"/>
              <a:buChar char="•"/>
            </a:pPr>
            <a:r>
              <a:rPr lang="en-US" sz="1500" dirty="0">
                <a:solidFill>
                  <a:srgbClr val="22302F"/>
                </a:solidFill>
                <a:latin typeface="Calibri" pitchFamily="34" charset="0"/>
                <a:ea typeface="Calibri" pitchFamily="34" charset="-122"/>
                <a:cs typeface="Calibri" pitchFamily="34" charset="-120"/>
              </a:rPr>
              <a:t>Los ADRs convierten requisitos en decisiones técnicas y alternativas descartadas.</a:t>
            </a:r>
            <a:endParaRPr lang="en-US" sz="1500" dirty="0"/>
          </a:p>
          <a:p>
            <a:pPr marL="203200" indent="-203200">
              <a:spcAft>
                <a:spcPts val="1200"/>
              </a:spcAft>
              <a:buSzPct val="100000"/>
              <a:buChar char="•"/>
            </a:pPr>
            <a:r>
              <a:rPr lang="en-US" sz="1500" dirty="0">
                <a:solidFill>
                  <a:srgbClr val="22302F"/>
                </a:solidFill>
                <a:latin typeface="Calibri" pitchFamily="34" charset="0"/>
                <a:ea typeface="Calibri" pitchFamily="34" charset="-122"/>
                <a:cs typeface="Calibri" pitchFamily="34" charset="-120"/>
              </a:rPr>
              <a:t>Las tareas dan trazabilidad de diseño a implementación y verificación.</a:t>
            </a:r>
            <a:endParaRPr lang="en-US" sz="1500" dirty="0"/>
          </a:p>
        </p:txBody>
      </p:sp>
      <p:sp>
        <p:nvSpPr>
          <p:cNvPr id="19" name="Text 17"/>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MÉTODO</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La IA como herramienta de ingeniería dirigida</a:t>
            </a:r>
            <a:endParaRPr lang="en-US" sz="3000" dirty="0"/>
          </a:p>
        </p:txBody>
      </p:sp>
      <p:sp>
        <p:nvSpPr>
          <p:cNvPr id="4" name="Shape 2"/>
          <p:cNvSpPr/>
          <p:nvPr/>
        </p:nvSpPr>
        <p:spPr>
          <a:xfrm>
            <a:off x="640080" y="2103120"/>
            <a:ext cx="2606040" cy="868680"/>
          </a:xfrm>
          <a:prstGeom prst="roundRect">
            <a:avLst>
              <a:gd name="adj" fmla="val 8421"/>
            </a:avLst>
          </a:prstGeom>
          <a:solidFill>
            <a:srgbClr val="FFFFFF"/>
          </a:solidFill>
          <a:ln/>
          <a:effectLst>
            <a:outerShdw sx="100000" sy="100000" kx="0" ky="0" algn="bl" rotWithShape="0" blurRad="101600" dist="38100" dir="5400000">
              <a:srgbClr val="9AA8A5">
                <a:alpha val="28000"/>
              </a:srgbClr>
            </a:outerShdw>
          </a:effectLst>
        </p:spPr>
      </p:sp>
      <p:sp>
        <p:nvSpPr>
          <p:cNvPr id="5" name="Text 3"/>
          <p:cNvSpPr/>
          <p:nvPr/>
        </p:nvSpPr>
        <p:spPr>
          <a:xfrm>
            <a:off x="777240" y="2103120"/>
            <a:ext cx="2331720" cy="868680"/>
          </a:xfrm>
          <a:prstGeom prst="rect">
            <a:avLst/>
          </a:prstGeom>
          <a:noFill/>
          <a:ln/>
        </p:spPr>
        <p:txBody>
          <a:bodyPr wrap="square" lIns="0" tIns="0" rIns="0" bIns="0" rtlCol="0" anchor="ctr"/>
          <a:lstStyle/>
          <a:p>
            <a:pPr algn="ctr" indent="0" marL="0">
              <a:buNone/>
            </a:pPr>
            <a:r>
              <a:rPr lang="en-US" sz="1300" b="1" dirty="0">
                <a:solidFill>
                  <a:srgbClr val="2F4A4E"/>
                </a:solidFill>
                <a:latin typeface="Calibri" pitchFamily="34" charset="0"/>
                <a:ea typeface="Calibri" pitchFamily="34" charset="-122"/>
                <a:cs typeface="Calibri" pitchFamily="34" charset="-120"/>
              </a:rPr>
              <a:t>Decisión humana</a:t>
            </a:r>
            <a:endParaRPr lang="en-US" sz="1300" dirty="0"/>
          </a:p>
        </p:txBody>
      </p:sp>
      <p:sp>
        <p:nvSpPr>
          <p:cNvPr id="6" name="Text 4"/>
          <p:cNvSpPr/>
          <p:nvPr/>
        </p:nvSpPr>
        <p:spPr>
          <a:xfrm>
            <a:off x="3227832" y="2103120"/>
            <a:ext cx="228600" cy="868680"/>
          </a:xfrm>
          <a:prstGeom prst="rect">
            <a:avLst/>
          </a:prstGeom>
          <a:noFill/>
          <a:ln/>
        </p:spPr>
        <p:txBody>
          <a:bodyPr wrap="square" lIns="0" tIns="0" rIns="0" bIns="0" rtlCol="0" anchor="ctr"/>
          <a:lstStyle/>
          <a:p>
            <a:pPr algn="ctr" indent="0" marL="0">
              <a:buNone/>
            </a:pPr>
            <a:r>
              <a:rPr lang="en-US" sz="1800" b="1" dirty="0">
                <a:solidFill>
                  <a:srgbClr val="69A297"/>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3474720" y="2103120"/>
            <a:ext cx="2606040" cy="868680"/>
          </a:xfrm>
          <a:prstGeom prst="roundRect">
            <a:avLst>
              <a:gd name="adj" fmla="val 8421"/>
            </a:avLst>
          </a:prstGeom>
          <a:solidFill>
            <a:srgbClr val="FFFFFF"/>
          </a:solidFill>
          <a:ln/>
          <a:effectLst>
            <a:outerShdw sx="100000" sy="100000" kx="0" ky="0" algn="bl" rotWithShape="0" blurRad="101600" dist="38100" dir="5400000">
              <a:srgbClr val="9AA8A5">
                <a:alpha val="28000"/>
              </a:srgbClr>
            </a:outerShdw>
          </a:effectLst>
        </p:spPr>
      </p:sp>
      <p:sp>
        <p:nvSpPr>
          <p:cNvPr id="8" name="Text 6"/>
          <p:cNvSpPr/>
          <p:nvPr/>
        </p:nvSpPr>
        <p:spPr>
          <a:xfrm>
            <a:off x="3611880" y="2103120"/>
            <a:ext cx="2331720" cy="868680"/>
          </a:xfrm>
          <a:prstGeom prst="rect">
            <a:avLst/>
          </a:prstGeom>
          <a:noFill/>
          <a:ln/>
        </p:spPr>
        <p:txBody>
          <a:bodyPr wrap="square" lIns="0" tIns="0" rIns="0" bIns="0" rtlCol="0" anchor="ctr"/>
          <a:lstStyle/>
          <a:p>
            <a:pPr algn="ctr" indent="0" marL="0">
              <a:buNone/>
            </a:pPr>
            <a:r>
              <a:rPr lang="en-US" sz="1300" b="1" dirty="0">
                <a:solidFill>
                  <a:srgbClr val="2F4A4E"/>
                </a:solidFill>
                <a:latin typeface="Calibri" pitchFamily="34" charset="0"/>
                <a:ea typeface="Calibri" pitchFamily="34" charset="-122"/>
                <a:cs typeface="Calibri" pitchFamily="34" charset="-120"/>
              </a:rPr>
              <a:t>Tarea de IA acotada</a:t>
            </a:r>
            <a:endParaRPr lang="en-US" sz="1300" dirty="0"/>
          </a:p>
        </p:txBody>
      </p:sp>
      <p:sp>
        <p:nvSpPr>
          <p:cNvPr id="9" name="Text 7"/>
          <p:cNvSpPr/>
          <p:nvPr/>
        </p:nvSpPr>
        <p:spPr>
          <a:xfrm>
            <a:off x="6062472" y="2103120"/>
            <a:ext cx="228600" cy="868680"/>
          </a:xfrm>
          <a:prstGeom prst="rect">
            <a:avLst/>
          </a:prstGeom>
          <a:noFill/>
          <a:ln/>
        </p:spPr>
        <p:txBody>
          <a:bodyPr wrap="square" lIns="0" tIns="0" rIns="0" bIns="0" rtlCol="0" anchor="ctr"/>
          <a:lstStyle/>
          <a:p>
            <a:pPr algn="ctr" indent="0" marL="0">
              <a:buNone/>
            </a:pPr>
            <a:r>
              <a:rPr lang="en-US" sz="1800" b="1" dirty="0">
                <a:solidFill>
                  <a:srgbClr val="69A297"/>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6309360" y="2103120"/>
            <a:ext cx="2606040" cy="868680"/>
          </a:xfrm>
          <a:prstGeom prst="roundRect">
            <a:avLst>
              <a:gd name="adj" fmla="val 8421"/>
            </a:avLst>
          </a:prstGeom>
          <a:solidFill>
            <a:srgbClr val="FFFFFF"/>
          </a:solidFill>
          <a:ln/>
          <a:effectLst>
            <a:outerShdw sx="100000" sy="100000" kx="0" ky="0" algn="bl" rotWithShape="0" blurRad="101600" dist="38100" dir="5400000">
              <a:srgbClr val="9AA8A5">
                <a:alpha val="28000"/>
              </a:srgbClr>
            </a:outerShdw>
          </a:effectLst>
        </p:spPr>
      </p:sp>
      <p:sp>
        <p:nvSpPr>
          <p:cNvPr id="11" name="Text 9"/>
          <p:cNvSpPr/>
          <p:nvPr/>
        </p:nvSpPr>
        <p:spPr>
          <a:xfrm>
            <a:off x="6446520" y="2103120"/>
            <a:ext cx="2331720" cy="868680"/>
          </a:xfrm>
          <a:prstGeom prst="rect">
            <a:avLst/>
          </a:prstGeom>
          <a:noFill/>
          <a:ln/>
        </p:spPr>
        <p:txBody>
          <a:bodyPr wrap="square" lIns="0" tIns="0" rIns="0" bIns="0" rtlCol="0" anchor="ctr"/>
          <a:lstStyle/>
          <a:p>
            <a:pPr algn="ctr" indent="0" marL="0">
              <a:buNone/>
            </a:pPr>
            <a:r>
              <a:rPr lang="en-US" sz="1300" b="1" dirty="0">
                <a:solidFill>
                  <a:srgbClr val="2F4A4E"/>
                </a:solidFill>
                <a:latin typeface="Calibri" pitchFamily="34" charset="0"/>
                <a:ea typeface="Calibri" pitchFamily="34" charset="-122"/>
                <a:cs typeface="Calibri" pitchFamily="34" charset="-120"/>
              </a:rPr>
              <a:t>Código / artefacto de revisión</a:t>
            </a:r>
            <a:endParaRPr lang="en-US" sz="1300" dirty="0"/>
          </a:p>
        </p:txBody>
      </p:sp>
      <p:sp>
        <p:nvSpPr>
          <p:cNvPr id="12" name="Text 10"/>
          <p:cNvSpPr/>
          <p:nvPr/>
        </p:nvSpPr>
        <p:spPr>
          <a:xfrm>
            <a:off x="8897112" y="2103120"/>
            <a:ext cx="228600" cy="868680"/>
          </a:xfrm>
          <a:prstGeom prst="rect">
            <a:avLst/>
          </a:prstGeom>
          <a:noFill/>
          <a:ln/>
        </p:spPr>
        <p:txBody>
          <a:bodyPr wrap="square" lIns="0" tIns="0" rIns="0" bIns="0" rtlCol="0" anchor="ctr"/>
          <a:lstStyle/>
          <a:p>
            <a:pPr algn="ctr" indent="0" marL="0">
              <a:buNone/>
            </a:pPr>
            <a:r>
              <a:rPr lang="en-US" sz="1800" b="1" dirty="0">
                <a:solidFill>
                  <a:srgbClr val="69A297"/>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9144000" y="2103120"/>
            <a:ext cx="2606040" cy="868680"/>
          </a:xfrm>
          <a:prstGeom prst="roundRect">
            <a:avLst>
              <a:gd name="adj" fmla="val 8421"/>
            </a:avLst>
          </a:prstGeom>
          <a:solidFill>
            <a:srgbClr val="FFFFFF"/>
          </a:solidFill>
          <a:ln/>
          <a:effectLst>
            <a:outerShdw sx="100000" sy="100000" kx="0" ky="0" algn="bl" rotWithShape="0" blurRad="101600" dist="38100" dir="5400000">
              <a:srgbClr val="9AA8A5">
                <a:alpha val="28000"/>
              </a:srgbClr>
            </a:outerShdw>
          </a:effectLst>
        </p:spPr>
      </p:sp>
      <p:sp>
        <p:nvSpPr>
          <p:cNvPr id="14" name="Text 12"/>
          <p:cNvSpPr/>
          <p:nvPr/>
        </p:nvSpPr>
        <p:spPr>
          <a:xfrm>
            <a:off x="9281160" y="2103120"/>
            <a:ext cx="2331720" cy="868680"/>
          </a:xfrm>
          <a:prstGeom prst="rect">
            <a:avLst/>
          </a:prstGeom>
          <a:noFill/>
          <a:ln/>
        </p:spPr>
        <p:txBody>
          <a:bodyPr wrap="square" lIns="0" tIns="0" rIns="0" bIns="0" rtlCol="0" anchor="ctr"/>
          <a:lstStyle/>
          <a:p>
            <a:pPr algn="ctr" indent="0" marL="0">
              <a:buNone/>
            </a:pPr>
            <a:r>
              <a:rPr lang="en-US" sz="1300" b="1" dirty="0">
                <a:solidFill>
                  <a:srgbClr val="2F4A4E"/>
                </a:solidFill>
                <a:latin typeface="Calibri" pitchFamily="34" charset="0"/>
                <a:ea typeface="Calibri" pitchFamily="34" charset="-122"/>
                <a:cs typeface="Calibri" pitchFamily="34" charset="-120"/>
              </a:rPr>
              <a:t>Validación humana</a:t>
            </a:r>
            <a:endParaRPr lang="en-US" sz="1300" dirty="0"/>
          </a:p>
        </p:txBody>
      </p:sp>
      <p:sp>
        <p:nvSpPr>
          <p:cNvPr id="15" name="Text 13"/>
          <p:cNvSpPr/>
          <p:nvPr/>
        </p:nvSpPr>
        <p:spPr>
          <a:xfrm>
            <a:off x="640080" y="3383280"/>
            <a:ext cx="10881360" cy="228600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22302F"/>
                </a:solidFill>
                <a:latin typeface="Calibri" pitchFamily="34" charset="0"/>
                <a:ea typeface="Calibri" pitchFamily="34" charset="-122"/>
                <a:cs typeface="Calibri" pitchFamily="34" charset="-120"/>
              </a:rPr>
              <a:t>El trabajo de IA está acotado por especificaciones, límites de alcance y reglas de capa.</a:t>
            </a:r>
            <a:endParaRPr lang="en-US" sz="1500" dirty="0"/>
          </a:p>
          <a:p>
            <a:pPr marL="203200" indent="-203200">
              <a:spcAft>
                <a:spcPts val="1200"/>
              </a:spcAft>
              <a:buSzPct val="100000"/>
              <a:buChar char="•"/>
            </a:pPr>
            <a:r>
              <a:rPr lang="en-US" sz="1500" dirty="0">
                <a:solidFill>
                  <a:srgbClr val="22302F"/>
                </a:solidFill>
                <a:latin typeface="Calibri" pitchFamily="34" charset="0"/>
                <a:ea typeface="Calibri" pitchFamily="34" charset="-122"/>
                <a:cs typeface="Calibri" pitchFamily="34" charset="-120"/>
              </a:rPr>
              <a:t>Roles distintos para implementación y para revisión adversarial independiente.</a:t>
            </a:r>
            <a:endParaRPr lang="en-US" sz="1500" dirty="0"/>
          </a:p>
          <a:p>
            <a:pPr marL="203200" indent="-203200">
              <a:spcAft>
                <a:spcPts val="1200"/>
              </a:spcAft>
              <a:buSzPct val="100000"/>
              <a:buChar char="•"/>
            </a:pPr>
            <a:r>
              <a:rPr lang="en-US" sz="1500" dirty="0">
                <a:solidFill>
                  <a:srgbClr val="22302F"/>
                </a:solidFill>
                <a:latin typeface="Calibri" pitchFamily="34" charset="0"/>
                <a:ea typeface="Calibri" pitchFamily="34" charset="-122"/>
                <a:cs typeface="Calibri" pitchFamily="34" charset="-120"/>
              </a:rPr>
              <a:t>El juicio humano posee requisitos, trade-offs, aceptación y responsabilidad final.</a:t>
            </a:r>
            <a:endParaRPr lang="en-US" sz="1500" dirty="0"/>
          </a:p>
          <a:p>
            <a:pPr marL="203200" indent="-203200">
              <a:spcAft>
                <a:spcPts val="1200"/>
              </a:spcAft>
              <a:buSzPct val="100000"/>
              <a:buChar char="•"/>
            </a:pPr>
            <a:r>
              <a:rPr lang="en-US" sz="1500" dirty="0">
                <a:solidFill>
                  <a:srgbClr val="22302F"/>
                </a:solidFill>
                <a:latin typeface="Calibri" pitchFamily="34" charset="0"/>
                <a:ea typeface="Calibri" pitchFamily="34" charset="-122"/>
                <a:cs typeface="Calibri" pitchFamily="34" charset="-120"/>
              </a:rPr>
              <a:t>Artefactos, tests e informes de revisión hacen el proceso inspeccionable.</a:t>
            </a:r>
            <a:endParaRPr lang="en-US" sz="1500" dirty="0"/>
          </a:p>
        </p:txBody>
      </p:sp>
      <p:sp>
        <p:nvSpPr>
          <p:cNvPr id="16" name="Text 14"/>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B2D"/>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84B59F"/>
                </a:solidFill>
                <a:latin typeface="Calibri" pitchFamily="34" charset="0"/>
                <a:ea typeface="Calibri" pitchFamily="34" charset="-122"/>
                <a:cs typeface="Calibri" pitchFamily="34" charset="-120"/>
              </a:rPr>
              <a:t>REVISIÓN ADVERSARIAL</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FFFFFF"/>
                </a:solidFill>
                <a:latin typeface="Cambria" pitchFamily="34" charset="0"/>
                <a:ea typeface="Cambria" pitchFamily="34" charset="-122"/>
                <a:cs typeface="Cambria" pitchFamily="34" charset="-120"/>
              </a:rPr>
              <a:t>Evidencia de rigor, no solo caminos felices</a:t>
            </a:r>
            <a:endParaRPr lang="en-US" sz="3000" dirty="0"/>
          </a:p>
        </p:txBody>
      </p:sp>
      <p:sp>
        <p:nvSpPr>
          <p:cNvPr id="4" name="Shape 2"/>
          <p:cNvSpPr/>
          <p:nvPr/>
        </p:nvSpPr>
        <p:spPr>
          <a:xfrm>
            <a:off x="640080" y="2011680"/>
            <a:ext cx="10881360" cy="1170432"/>
          </a:xfrm>
          <a:prstGeom prst="roundRect">
            <a:avLst>
              <a:gd name="adj" fmla="val 6250"/>
            </a:avLst>
          </a:prstGeom>
          <a:solidFill>
            <a:srgbClr val="27383A"/>
          </a:solidFill>
          <a:ln/>
        </p:spPr>
      </p:sp>
      <p:sp>
        <p:nvSpPr>
          <p:cNvPr id="5" name="Text 3"/>
          <p:cNvSpPr/>
          <p:nvPr/>
        </p:nvSpPr>
        <p:spPr>
          <a:xfrm>
            <a:off x="914400" y="2121408"/>
            <a:ext cx="2011680" cy="960120"/>
          </a:xfrm>
          <a:prstGeom prst="rect">
            <a:avLst/>
          </a:prstGeom>
          <a:noFill/>
          <a:ln/>
        </p:spPr>
        <p:txBody>
          <a:bodyPr wrap="square" lIns="0" tIns="0" rIns="0" bIns="0" rtlCol="0" anchor="t"/>
          <a:lstStyle/>
          <a:p>
            <a:pPr indent="0" marL="0">
              <a:buNone/>
            </a:pPr>
            <a:r>
              <a:rPr lang="en-US" sz="1400" b="1" dirty="0">
                <a:solidFill>
                  <a:srgbClr val="84B59F"/>
                </a:solidFill>
                <a:latin typeface="Calibri" pitchFamily="34" charset="0"/>
                <a:ea typeface="Calibri" pitchFamily="34" charset="-122"/>
                <a:cs typeface="Calibri" pitchFamily="34" charset="-120"/>
              </a:rPr>
              <a:t>Planificación</a:t>
            </a:r>
            <a:endParaRPr lang="en-US" sz="1400" dirty="0"/>
          </a:p>
        </p:txBody>
      </p:sp>
      <p:sp>
        <p:nvSpPr>
          <p:cNvPr id="6" name="Text 4"/>
          <p:cNvSpPr/>
          <p:nvPr/>
        </p:nvSpPr>
        <p:spPr>
          <a:xfrm>
            <a:off x="3017520" y="2121408"/>
            <a:ext cx="4297680" cy="960120"/>
          </a:xfrm>
          <a:prstGeom prst="rect">
            <a:avLst/>
          </a:prstGeom>
          <a:noFill/>
          <a:ln/>
        </p:spPr>
        <p:txBody>
          <a:bodyPr wrap="square" lIns="0" tIns="0" rIns="0" bIns="0" rtlCol="0" anchor="t"/>
          <a:lstStyle/>
          <a:p>
            <a:pPr indent="0" marL="0">
              <a:lnSpc>
                <a:spcPct val="105000"/>
              </a:lnSpc>
              <a:buNone/>
            </a:pPr>
            <a:r>
              <a:rPr lang="en-US" sz="1250" dirty="0">
                <a:solidFill>
                  <a:srgbClr val="E7EEEB"/>
                </a:solidFill>
                <a:latin typeface="Calibri" pitchFamily="34" charset="0"/>
                <a:ea typeface="Calibri" pitchFamily="34" charset="-122"/>
                <a:cs typeface="Calibri" pitchFamily="34" charset="-120"/>
              </a:rPr>
              <a:t>Hallazgo: Carrera por lectura obsoleta.</a:t>
            </a:r>
            <a:endParaRPr lang="en-US" sz="1250" dirty="0"/>
          </a:p>
        </p:txBody>
      </p:sp>
      <p:sp>
        <p:nvSpPr>
          <p:cNvPr id="7" name="Text 5"/>
          <p:cNvSpPr/>
          <p:nvPr/>
        </p:nvSpPr>
        <p:spPr>
          <a:xfrm>
            <a:off x="7498080" y="2121408"/>
            <a:ext cx="3840480" cy="960120"/>
          </a:xfrm>
          <a:prstGeom prst="rect">
            <a:avLst/>
          </a:prstGeom>
          <a:noFill/>
          <a:ln/>
        </p:spPr>
        <p:txBody>
          <a:bodyPr wrap="square" lIns="0" tIns="0" rIns="0" bIns="0" rtlCol="0" anchor="t"/>
          <a:lstStyle/>
          <a:p>
            <a:pPr indent="0" marL="0">
              <a:lnSpc>
                <a:spcPct val="105000"/>
              </a:lnSpc>
              <a:buNone/>
            </a:pPr>
            <a:r>
              <a:rPr lang="en-US" sz="1250" dirty="0">
                <a:solidFill>
                  <a:srgbClr val="CFE3DC"/>
                </a:solidFill>
                <a:latin typeface="Calibri" pitchFamily="34" charset="0"/>
                <a:ea typeface="Calibri" pitchFamily="34" charset="-122"/>
                <a:cs typeface="Calibri" pitchFamily="34" charset="-120"/>
              </a:rPr>
              <a:t>Resultado: Diseño lock-first del MatchingUnitOfWork.</a:t>
            </a:r>
            <a:endParaRPr lang="en-US" sz="1250" dirty="0"/>
          </a:p>
        </p:txBody>
      </p:sp>
      <p:sp>
        <p:nvSpPr>
          <p:cNvPr id="8" name="Shape 6"/>
          <p:cNvSpPr/>
          <p:nvPr/>
        </p:nvSpPr>
        <p:spPr>
          <a:xfrm>
            <a:off x="640080" y="3337560"/>
            <a:ext cx="10881360" cy="1170432"/>
          </a:xfrm>
          <a:prstGeom prst="roundRect">
            <a:avLst>
              <a:gd name="adj" fmla="val 6250"/>
            </a:avLst>
          </a:prstGeom>
          <a:solidFill>
            <a:srgbClr val="27383A"/>
          </a:solidFill>
          <a:ln/>
        </p:spPr>
      </p:sp>
      <p:sp>
        <p:nvSpPr>
          <p:cNvPr id="9" name="Text 7"/>
          <p:cNvSpPr/>
          <p:nvPr/>
        </p:nvSpPr>
        <p:spPr>
          <a:xfrm>
            <a:off x="914400" y="3447288"/>
            <a:ext cx="2011680" cy="960120"/>
          </a:xfrm>
          <a:prstGeom prst="rect">
            <a:avLst/>
          </a:prstGeom>
          <a:noFill/>
          <a:ln/>
        </p:spPr>
        <p:txBody>
          <a:bodyPr wrap="square" lIns="0" tIns="0" rIns="0" bIns="0" rtlCol="0" anchor="t"/>
          <a:lstStyle/>
          <a:p>
            <a:pPr indent="0" marL="0">
              <a:buNone/>
            </a:pPr>
            <a:r>
              <a:rPr lang="en-US" sz="1400" b="1" dirty="0">
                <a:solidFill>
                  <a:srgbClr val="84B59F"/>
                </a:solidFill>
                <a:latin typeface="Calibri" pitchFamily="34" charset="0"/>
                <a:ea typeface="Calibri" pitchFamily="34" charset="-122"/>
                <a:cs typeface="Calibri" pitchFamily="34" charset="-120"/>
              </a:rPr>
              <a:t>Dominio</a:t>
            </a:r>
            <a:endParaRPr lang="en-US" sz="1400" dirty="0"/>
          </a:p>
        </p:txBody>
      </p:sp>
      <p:sp>
        <p:nvSpPr>
          <p:cNvPr id="10" name="Text 8"/>
          <p:cNvSpPr/>
          <p:nvPr/>
        </p:nvSpPr>
        <p:spPr>
          <a:xfrm>
            <a:off x="3017520" y="3447288"/>
            <a:ext cx="4297680" cy="960120"/>
          </a:xfrm>
          <a:prstGeom prst="rect">
            <a:avLst/>
          </a:prstGeom>
          <a:noFill/>
          <a:ln/>
        </p:spPr>
        <p:txBody>
          <a:bodyPr wrap="square" lIns="0" tIns="0" rIns="0" bIns="0" rtlCol="0" anchor="t"/>
          <a:lstStyle/>
          <a:p>
            <a:pPr indent="0" marL="0">
              <a:lnSpc>
                <a:spcPct val="105000"/>
              </a:lnSpc>
              <a:buNone/>
            </a:pPr>
            <a:r>
              <a:rPr lang="en-US" sz="1250" dirty="0">
                <a:solidFill>
                  <a:srgbClr val="E7EEEB"/>
                </a:solidFill>
                <a:latin typeface="Calibri" pitchFamily="34" charset="0"/>
                <a:ea typeface="Calibri" pitchFamily="34" charset="-122"/>
                <a:cs typeface="Calibri" pitchFamily="34" charset="-120"/>
              </a:rPr>
              <a:t>Hallazgo: Faltaba soporte de persistencia para DEACTIVATED y trazabilidad de re-registro.</a:t>
            </a:r>
            <a:endParaRPr lang="en-US" sz="1250" dirty="0"/>
          </a:p>
        </p:txBody>
      </p:sp>
      <p:sp>
        <p:nvSpPr>
          <p:cNvPr id="11" name="Text 9"/>
          <p:cNvSpPr/>
          <p:nvPr/>
        </p:nvSpPr>
        <p:spPr>
          <a:xfrm>
            <a:off x="7498080" y="3447288"/>
            <a:ext cx="3840480" cy="960120"/>
          </a:xfrm>
          <a:prstGeom prst="rect">
            <a:avLst/>
          </a:prstGeom>
          <a:noFill/>
          <a:ln/>
        </p:spPr>
        <p:txBody>
          <a:bodyPr wrap="square" lIns="0" tIns="0" rIns="0" bIns="0" rtlCol="0" anchor="t"/>
          <a:lstStyle/>
          <a:p>
            <a:pPr indent="0" marL="0">
              <a:lnSpc>
                <a:spcPct val="105000"/>
              </a:lnSpc>
              <a:buNone/>
            </a:pPr>
            <a:r>
              <a:rPr lang="en-US" sz="1250" dirty="0">
                <a:solidFill>
                  <a:srgbClr val="CFE3DC"/>
                </a:solidFill>
                <a:latin typeface="Calibri" pitchFamily="34" charset="0"/>
                <a:ea typeface="Calibri" pitchFamily="34" charset="-122"/>
                <a:cs typeface="Calibri" pitchFamily="34" charset="-120"/>
              </a:rPr>
              <a:t>Resultado: Esquema/migración aplicada a BD vacía en CI.</a:t>
            </a:r>
            <a:endParaRPr lang="en-US" sz="1250" dirty="0"/>
          </a:p>
        </p:txBody>
      </p:sp>
      <p:sp>
        <p:nvSpPr>
          <p:cNvPr id="12" name="Shape 10"/>
          <p:cNvSpPr/>
          <p:nvPr/>
        </p:nvSpPr>
        <p:spPr>
          <a:xfrm>
            <a:off x="640080" y="4663440"/>
            <a:ext cx="10881360" cy="1170432"/>
          </a:xfrm>
          <a:prstGeom prst="roundRect">
            <a:avLst>
              <a:gd name="adj" fmla="val 6250"/>
            </a:avLst>
          </a:prstGeom>
          <a:solidFill>
            <a:srgbClr val="27383A"/>
          </a:solidFill>
          <a:ln/>
        </p:spPr>
      </p:sp>
      <p:sp>
        <p:nvSpPr>
          <p:cNvPr id="13" name="Text 11"/>
          <p:cNvSpPr/>
          <p:nvPr/>
        </p:nvSpPr>
        <p:spPr>
          <a:xfrm>
            <a:off x="914400" y="4773168"/>
            <a:ext cx="2011680" cy="960120"/>
          </a:xfrm>
          <a:prstGeom prst="rect">
            <a:avLst/>
          </a:prstGeom>
          <a:noFill/>
          <a:ln/>
        </p:spPr>
        <p:txBody>
          <a:bodyPr wrap="square" lIns="0" tIns="0" rIns="0" bIns="0" rtlCol="0" anchor="t"/>
          <a:lstStyle/>
          <a:p>
            <a:pPr indent="0" marL="0">
              <a:buNone/>
            </a:pPr>
            <a:r>
              <a:rPr lang="en-US" sz="1400" b="1" dirty="0">
                <a:solidFill>
                  <a:srgbClr val="84B59F"/>
                </a:solidFill>
                <a:latin typeface="Calibri" pitchFamily="34" charset="0"/>
                <a:ea typeface="Calibri" pitchFamily="34" charset="-122"/>
                <a:cs typeface="Calibri" pitchFamily="34" charset="-120"/>
              </a:rPr>
              <a:t>Aplicación</a:t>
            </a:r>
            <a:endParaRPr lang="en-US" sz="1400" dirty="0"/>
          </a:p>
        </p:txBody>
      </p:sp>
      <p:sp>
        <p:nvSpPr>
          <p:cNvPr id="14" name="Text 12"/>
          <p:cNvSpPr/>
          <p:nvPr/>
        </p:nvSpPr>
        <p:spPr>
          <a:xfrm>
            <a:off x="3017520" y="4773168"/>
            <a:ext cx="4297680" cy="960120"/>
          </a:xfrm>
          <a:prstGeom prst="rect">
            <a:avLst/>
          </a:prstGeom>
          <a:noFill/>
          <a:ln/>
        </p:spPr>
        <p:txBody>
          <a:bodyPr wrap="square" lIns="0" tIns="0" rIns="0" bIns="0" rtlCol="0" anchor="t"/>
          <a:lstStyle/>
          <a:p>
            <a:pPr indent="0" marL="0">
              <a:lnSpc>
                <a:spcPct val="105000"/>
              </a:lnSpc>
              <a:buNone/>
            </a:pPr>
            <a:r>
              <a:rPr lang="en-US" sz="1250" dirty="0">
                <a:solidFill>
                  <a:srgbClr val="E7EEEB"/>
                </a:solidFill>
                <a:latin typeface="Calibri" pitchFamily="34" charset="0"/>
                <a:ea typeface="Calibri" pitchFamily="34" charset="-122"/>
                <a:cs typeface="Calibri" pitchFamily="34" charset="-120"/>
              </a:rPr>
              <a:t>Hallazgo: Un allow-list de TypeScript no es redacción en runtime; el re-registro no probaba credenciales.</a:t>
            </a:r>
            <a:endParaRPr lang="en-US" sz="1250" dirty="0"/>
          </a:p>
        </p:txBody>
      </p:sp>
      <p:sp>
        <p:nvSpPr>
          <p:cNvPr id="15" name="Text 13"/>
          <p:cNvSpPr/>
          <p:nvPr/>
        </p:nvSpPr>
        <p:spPr>
          <a:xfrm>
            <a:off x="7498080" y="4773168"/>
            <a:ext cx="3840480" cy="960120"/>
          </a:xfrm>
          <a:prstGeom prst="rect">
            <a:avLst/>
          </a:prstGeom>
          <a:noFill/>
          <a:ln/>
        </p:spPr>
        <p:txBody>
          <a:bodyPr wrap="square" lIns="0" tIns="0" rIns="0" bIns="0" rtlCol="0" anchor="t"/>
          <a:lstStyle/>
          <a:p>
            <a:pPr indent="0" marL="0">
              <a:lnSpc>
                <a:spcPct val="105000"/>
              </a:lnSpc>
              <a:buNone/>
            </a:pPr>
            <a:r>
              <a:rPr lang="en-US" sz="1250" dirty="0">
                <a:solidFill>
                  <a:srgbClr val="CFE3DC"/>
                </a:solidFill>
                <a:latin typeface="Calibri" pitchFamily="34" charset="0"/>
                <a:ea typeface="Calibri" pitchFamily="34" charset="-122"/>
                <a:cs typeface="Calibri" pitchFamily="34" charset="-120"/>
              </a:rPr>
              <a:t>Resultado: DTO campo a campo con test HTTP no-leak; re-registro verificado por contraseña.</a:t>
            </a:r>
            <a:endParaRPr lang="en-US" sz="1250" dirty="0"/>
          </a:p>
        </p:txBody>
      </p:sp>
      <p:sp>
        <p:nvSpPr>
          <p:cNvPr id="16" name="Text 14"/>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9FB4AF"/>
                </a:solidFill>
                <a:latin typeface="Calibri" pitchFamily="34" charset="0"/>
                <a:ea typeface="Calibri" pitchFamily="34" charset="-122"/>
                <a:cs typeface="Calibri" pitchFamily="34" charset="-120"/>
              </a:rPr>
              <a:t>Los hallazgos que quedaron abiertos se registraron como abiertos — y los de dominio y hardening ahora están cerrados y en revisión (PR #31/#32).</a:t>
            </a:r>
            <a:endParaRPr lang="en-US" sz="1300" dirty="0"/>
          </a:p>
        </p:txBody>
      </p:sp>
      <p:sp>
        <p:nvSpPr>
          <p:cNvPr id="17" name="Text 15"/>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ESTRATEGIA DE CALIDAD</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Tests donde está el riesgo</a:t>
            </a:r>
            <a:endParaRPr lang="en-US" sz="3000" dirty="0"/>
          </a:p>
        </p:txBody>
      </p:sp>
      <p:sp>
        <p:nvSpPr>
          <p:cNvPr id="4" name="Shape 2"/>
          <p:cNvSpPr/>
          <p:nvPr/>
        </p:nvSpPr>
        <p:spPr>
          <a:xfrm>
            <a:off x="3794760" y="1965960"/>
            <a:ext cx="4572000" cy="841248"/>
          </a:xfrm>
          <a:prstGeom prst="roundRect">
            <a:avLst>
              <a:gd name="adj" fmla="val 8696"/>
            </a:avLst>
          </a:prstGeom>
          <a:solidFill>
            <a:srgbClr val="50808E"/>
          </a:solidFill>
          <a:ln/>
        </p:spPr>
      </p:sp>
      <p:sp>
        <p:nvSpPr>
          <p:cNvPr id="5" name="Text 3"/>
          <p:cNvSpPr/>
          <p:nvPr/>
        </p:nvSpPr>
        <p:spPr>
          <a:xfrm>
            <a:off x="4023360" y="2057400"/>
            <a:ext cx="219456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E2E</a:t>
            </a:r>
            <a:endParaRPr lang="en-US" sz="1400" dirty="0"/>
          </a:p>
        </p:txBody>
      </p:sp>
      <p:sp>
        <p:nvSpPr>
          <p:cNvPr id="6" name="Text 4"/>
          <p:cNvSpPr/>
          <p:nvPr/>
        </p:nvSpPr>
        <p:spPr>
          <a:xfrm>
            <a:off x="6263640" y="2039112"/>
            <a:ext cx="1920240" cy="713232"/>
          </a:xfrm>
          <a:prstGeom prst="rect">
            <a:avLst/>
          </a:prstGeom>
          <a:noFill/>
          <a:ln/>
        </p:spPr>
        <p:txBody>
          <a:bodyPr wrap="square" lIns="0" tIns="0" rIns="0" bIns="0" rtlCol="0" anchor="ctr"/>
          <a:lstStyle/>
          <a:p>
            <a:pPr indent="0" marL="0">
              <a:lnSpc>
                <a:spcPct val="100000"/>
              </a:lnSpc>
              <a:buNone/>
            </a:pPr>
            <a:r>
              <a:rPr lang="en-US" sz="1150" dirty="0">
                <a:solidFill>
                  <a:srgbClr val="F2F6F4"/>
                </a:solidFill>
                <a:latin typeface="Calibri" pitchFamily="34" charset="0"/>
                <a:ea typeface="Calibri" pitchFamily="34" charset="-122"/>
                <a:cs typeface="Calibri" pitchFamily="34" charset="-120"/>
              </a:rPr>
              <a:t>Navegación pública, cadena de demo completa, matriz de denegación de autorización — ejecutados en CI.</a:t>
            </a:r>
            <a:endParaRPr lang="en-US" sz="1150" dirty="0"/>
          </a:p>
        </p:txBody>
      </p:sp>
      <p:sp>
        <p:nvSpPr>
          <p:cNvPr id="7" name="Shape 5"/>
          <p:cNvSpPr/>
          <p:nvPr/>
        </p:nvSpPr>
        <p:spPr>
          <a:xfrm>
            <a:off x="2651760" y="2926080"/>
            <a:ext cx="6858000" cy="841248"/>
          </a:xfrm>
          <a:prstGeom prst="roundRect">
            <a:avLst>
              <a:gd name="adj" fmla="val 8696"/>
            </a:avLst>
          </a:prstGeom>
          <a:solidFill>
            <a:srgbClr val="69A297"/>
          </a:solidFill>
          <a:ln/>
        </p:spPr>
      </p:sp>
      <p:sp>
        <p:nvSpPr>
          <p:cNvPr id="8" name="Text 6"/>
          <p:cNvSpPr/>
          <p:nvPr/>
        </p:nvSpPr>
        <p:spPr>
          <a:xfrm>
            <a:off x="2880360" y="3017520"/>
            <a:ext cx="219456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Integración</a:t>
            </a:r>
            <a:endParaRPr lang="en-US" sz="1400" dirty="0"/>
          </a:p>
        </p:txBody>
      </p:sp>
      <p:sp>
        <p:nvSpPr>
          <p:cNvPr id="9" name="Text 7"/>
          <p:cNvSpPr/>
          <p:nvPr/>
        </p:nvSpPr>
        <p:spPr>
          <a:xfrm>
            <a:off x="5120640" y="2999232"/>
            <a:ext cx="4206240" cy="713232"/>
          </a:xfrm>
          <a:prstGeom prst="rect">
            <a:avLst/>
          </a:prstGeom>
          <a:noFill/>
          <a:ln/>
        </p:spPr>
        <p:txBody>
          <a:bodyPr wrap="square" lIns="0" tIns="0" rIns="0" bIns="0" rtlCol="0" anchor="ctr"/>
          <a:lstStyle/>
          <a:p>
            <a:pPr indent="0" marL="0">
              <a:lnSpc>
                <a:spcPct val="100000"/>
              </a:lnSpc>
              <a:buNone/>
            </a:pPr>
            <a:r>
              <a:rPr lang="en-US" sz="1150" dirty="0">
                <a:solidFill>
                  <a:srgbClr val="F2F6F4"/>
                </a:solidFill>
                <a:latin typeface="Calibri" pitchFamily="34" charset="0"/>
                <a:ea typeface="Calibri" pitchFamily="34" charset="-122"/>
                <a:cs typeface="Calibri" pitchFamily="34" charset="-120"/>
              </a:rPr>
              <a:t>Transacciones Postgres, locks, índices parciales y adaptador de sesión — serial, ejecutados en CI.</a:t>
            </a:r>
            <a:endParaRPr lang="en-US" sz="1150" dirty="0"/>
          </a:p>
        </p:txBody>
      </p:sp>
      <p:sp>
        <p:nvSpPr>
          <p:cNvPr id="10" name="Shape 8"/>
          <p:cNvSpPr/>
          <p:nvPr/>
        </p:nvSpPr>
        <p:spPr>
          <a:xfrm>
            <a:off x="1600200" y="3886200"/>
            <a:ext cx="8961120" cy="841248"/>
          </a:xfrm>
          <a:prstGeom prst="roundRect">
            <a:avLst>
              <a:gd name="adj" fmla="val 8696"/>
            </a:avLst>
          </a:prstGeom>
          <a:solidFill>
            <a:srgbClr val="84B59F"/>
          </a:solidFill>
          <a:ln/>
        </p:spPr>
      </p:sp>
      <p:sp>
        <p:nvSpPr>
          <p:cNvPr id="11" name="Text 9"/>
          <p:cNvSpPr/>
          <p:nvPr/>
        </p:nvSpPr>
        <p:spPr>
          <a:xfrm>
            <a:off x="1828800" y="3977640"/>
            <a:ext cx="219456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Unit (aplicación)</a:t>
            </a:r>
            <a:endParaRPr lang="en-US" sz="1400" dirty="0"/>
          </a:p>
        </p:txBody>
      </p:sp>
      <p:sp>
        <p:nvSpPr>
          <p:cNvPr id="12" name="Text 10"/>
          <p:cNvSpPr/>
          <p:nvPr/>
        </p:nvSpPr>
        <p:spPr>
          <a:xfrm>
            <a:off x="4069080" y="3959352"/>
            <a:ext cx="6309360" cy="713232"/>
          </a:xfrm>
          <a:prstGeom prst="rect">
            <a:avLst/>
          </a:prstGeom>
          <a:noFill/>
          <a:ln/>
        </p:spPr>
        <p:txBody>
          <a:bodyPr wrap="square" lIns="0" tIns="0" rIns="0" bIns="0" rtlCol="0" anchor="ctr"/>
          <a:lstStyle/>
          <a:p>
            <a:pPr indent="0" marL="0">
              <a:lnSpc>
                <a:spcPct val="100000"/>
              </a:lnSpc>
              <a:buNone/>
            </a:pPr>
            <a:r>
              <a:rPr lang="en-US" sz="1150" dirty="0">
                <a:solidFill>
                  <a:srgbClr val="F2F6F4"/>
                </a:solidFill>
                <a:latin typeface="Calibri" pitchFamily="34" charset="0"/>
                <a:ea typeface="Calibri" pitchFamily="34" charset="-122"/>
                <a:cs typeface="Calibri" pitchFamily="34" charset="-120"/>
              </a:rPr>
              <a:t>Roles, chequeos de perfil vivo, orquestación de casos de uso, contratos de puerto.</a:t>
            </a:r>
            <a:endParaRPr lang="en-US" sz="1150" dirty="0"/>
          </a:p>
        </p:txBody>
      </p:sp>
      <p:sp>
        <p:nvSpPr>
          <p:cNvPr id="13" name="Shape 11"/>
          <p:cNvSpPr/>
          <p:nvPr/>
        </p:nvSpPr>
        <p:spPr>
          <a:xfrm>
            <a:off x="640080" y="4846320"/>
            <a:ext cx="10881360" cy="841248"/>
          </a:xfrm>
          <a:prstGeom prst="roundRect">
            <a:avLst>
              <a:gd name="adj" fmla="val 8696"/>
            </a:avLst>
          </a:prstGeom>
          <a:solidFill>
            <a:srgbClr val="2F4A4E"/>
          </a:solidFill>
          <a:ln/>
        </p:spPr>
      </p:sp>
      <p:sp>
        <p:nvSpPr>
          <p:cNvPr id="14" name="Text 12"/>
          <p:cNvSpPr/>
          <p:nvPr/>
        </p:nvSpPr>
        <p:spPr>
          <a:xfrm>
            <a:off x="868680" y="4937760"/>
            <a:ext cx="219456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Unit (dominio)</a:t>
            </a:r>
            <a:endParaRPr lang="en-US" sz="1400" dirty="0"/>
          </a:p>
        </p:txBody>
      </p:sp>
      <p:sp>
        <p:nvSpPr>
          <p:cNvPr id="15" name="Text 13"/>
          <p:cNvSpPr/>
          <p:nvPr/>
        </p:nvSpPr>
        <p:spPr>
          <a:xfrm>
            <a:off x="3108960" y="4919472"/>
            <a:ext cx="8229600" cy="713232"/>
          </a:xfrm>
          <a:prstGeom prst="rect">
            <a:avLst/>
          </a:prstGeom>
          <a:noFill/>
          <a:ln/>
        </p:spPr>
        <p:txBody>
          <a:bodyPr wrap="square" lIns="0" tIns="0" rIns="0" bIns="0" rtlCol="0" anchor="ctr"/>
          <a:lstStyle/>
          <a:p>
            <a:pPr indent="0" marL="0">
              <a:lnSpc>
                <a:spcPct val="100000"/>
              </a:lnSpc>
              <a:buNone/>
            </a:pPr>
            <a:r>
              <a:rPr lang="en-US" sz="1150" dirty="0">
                <a:solidFill>
                  <a:srgbClr val="F2F6F4"/>
                </a:solidFill>
                <a:latin typeface="Calibri" pitchFamily="34" charset="0"/>
                <a:ea typeface="Calibri" pitchFamily="34" charset="-122"/>
                <a:cs typeface="Calibri" pitchFamily="34" charset="-120"/>
              </a:rPr>
              <a:t>Estados, factorías, propiedad, cascadas y transiciones ilegales.</a:t>
            </a:r>
            <a:endParaRPr lang="en-US" sz="1150" dirty="0"/>
          </a:p>
        </p:txBody>
      </p:sp>
      <p:sp>
        <p:nvSpPr>
          <p:cNvPr id="16" name="Shape 14"/>
          <p:cNvSpPr/>
          <p:nvPr/>
        </p:nvSpPr>
        <p:spPr>
          <a:xfrm>
            <a:off x="640080" y="5806440"/>
            <a:ext cx="10881360" cy="685800"/>
          </a:xfrm>
          <a:prstGeom prst="roundRect">
            <a:avLst>
              <a:gd name="adj" fmla="val 10667"/>
            </a:avLst>
          </a:prstGeom>
          <a:solidFill>
            <a:srgbClr val="1E2B2D"/>
          </a:solidFill>
          <a:ln/>
        </p:spPr>
      </p:sp>
      <p:sp>
        <p:nvSpPr>
          <p:cNvPr id="17" name="Text 15"/>
          <p:cNvSpPr/>
          <p:nvPr/>
        </p:nvSpPr>
        <p:spPr>
          <a:xfrm>
            <a:off x="914400" y="5806440"/>
            <a:ext cx="10332720" cy="685800"/>
          </a:xfrm>
          <a:prstGeom prst="rect">
            <a:avLst/>
          </a:prstGeom>
          <a:noFill/>
          <a:ln/>
        </p:spPr>
        <p:txBody>
          <a:bodyPr wrap="square" lIns="0" tIns="0" rIns="0" bIns="0" rtlCol="0" anchor="ctr"/>
          <a:lstStyle/>
          <a:p>
            <a:pPr indent="0" marL="0">
              <a:buNone/>
            </a:pPr>
            <a:r>
              <a:rPr lang="en-US" sz="1400" dirty="0">
                <a:solidFill>
                  <a:srgbClr val="CFE3DC"/>
                </a:solidFill>
                <a:latin typeface="Calibri" pitchFamily="34" charset="0"/>
                <a:ea typeface="Calibri" pitchFamily="34" charset="-122"/>
                <a:cs typeface="Calibri" pitchFamily="34" charset="-120"/>
              </a:rPr>
              <a:t>Evidencia titular:  </a:t>
            </a:r>
            <a:pPr indent="0" marL="0">
              <a:buNone/>
            </a:pPr>
            <a:r>
              <a:rPr lang="en-US" sz="1400" b="1" dirty="0">
                <a:solidFill>
                  <a:srgbClr val="FFFFFF"/>
                </a:solidFill>
                <a:latin typeface="Calibri" pitchFamily="34" charset="0"/>
                <a:ea typeface="Calibri" pitchFamily="34" charset="-122"/>
                <a:cs typeface="Calibri" pitchFamily="34" charset="-120"/>
              </a:rPr>
              <a:t>suite verde en CI contra PostgreSQL real + Playwright.  </a:t>
            </a:r>
            <a:pPr indent="0" marL="0">
              <a:buNone/>
            </a:pPr>
            <a:r>
              <a:rPr lang="en-US" sz="1250" i="1" dirty="0">
                <a:solidFill>
                  <a:srgbClr val="84B59F"/>
                </a:solidFill>
                <a:latin typeface="Calibri" pitchFamily="34" charset="0"/>
                <a:ea typeface="Calibri" pitchFamily="34" charset="-122"/>
                <a:cs typeface="Calibri" pitchFamily="34" charset="-120"/>
              </a:rPr>
              <a:t>[AUTOR: refrescar recuentos exactos el día de la defensa]</a:t>
            </a:r>
            <a:endParaRPr lang="en-US" sz="1400" dirty="0"/>
          </a:p>
        </p:txBody>
      </p:sp>
      <p:sp>
        <p:nvSpPr>
          <p:cNvPr id="18" name="Text 16"/>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SEGURIDAD POR DISEÑO</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Minimizar la superficie pública y privilegiada</a:t>
            </a:r>
            <a:endParaRPr lang="en-US" sz="3000" dirty="0"/>
          </a:p>
        </p:txBody>
      </p:sp>
      <p:sp>
        <p:nvSpPr>
          <p:cNvPr id="4" name="Shape 2"/>
          <p:cNvSpPr/>
          <p:nvPr/>
        </p:nvSpPr>
        <p:spPr>
          <a:xfrm>
            <a:off x="640080" y="1965960"/>
            <a:ext cx="3444240" cy="3383280"/>
          </a:xfrm>
          <a:prstGeom prst="roundRect">
            <a:avLst>
              <a:gd name="adj" fmla="val 2162"/>
            </a:avLst>
          </a:prstGeom>
          <a:solidFill>
            <a:srgbClr val="FFFFFF"/>
          </a:solidFill>
          <a:ln/>
          <a:effectLst>
            <a:outerShdw sx="100000" sy="100000" kx="0" ky="0" algn="bl" rotWithShape="0" blurRad="101600" dist="38100" dir="5400000">
              <a:srgbClr val="9AA8A5">
                <a:alpha val="28000"/>
              </a:srgbClr>
            </a:outerShdw>
          </a:effectLst>
        </p:spPr>
      </p:sp>
      <p:sp>
        <p:nvSpPr>
          <p:cNvPr id="5" name="Shape 3"/>
          <p:cNvSpPr/>
          <p:nvPr/>
        </p:nvSpPr>
        <p:spPr>
          <a:xfrm>
            <a:off x="868680" y="2194560"/>
            <a:ext cx="274320" cy="274320"/>
          </a:xfrm>
          <a:prstGeom prst="ellipse">
            <a:avLst/>
          </a:prstGeom>
          <a:solidFill>
            <a:srgbClr val="84B59F"/>
          </a:solidFill>
          <a:ln/>
        </p:spPr>
      </p:sp>
      <p:sp>
        <p:nvSpPr>
          <p:cNvPr id="6" name="Text 4"/>
          <p:cNvSpPr/>
          <p:nvPr/>
        </p:nvSpPr>
        <p:spPr>
          <a:xfrm>
            <a:off x="1234440" y="2148840"/>
            <a:ext cx="2667000" cy="45720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Salida pública permitida</a:t>
            </a:r>
            <a:endParaRPr lang="en-US" sz="1400" dirty="0"/>
          </a:p>
        </p:txBody>
      </p:sp>
      <p:sp>
        <p:nvSpPr>
          <p:cNvPr id="7" name="Text 5"/>
          <p:cNvSpPr/>
          <p:nvPr/>
        </p:nvSpPr>
        <p:spPr>
          <a:xfrm>
            <a:off x="868680" y="2743200"/>
            <a:ext cx="2987040" cy="237744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22302F"/>
                </a:solidFill>
                <a:latin typeface="Calibri" pitchFamily="34" charset="0"/>
                <a:ea typeface="Calibri" pitchFamily="34" charset="-122"/>
                <a:cs typeface="Calibri" pitchFamily="34" charset="-120"/>
              </a:rPr>
              <a:t>Título, descripción, fecha/hora, duración</a:t>
            </a:r>
            <a:endParaRPr lang="en-US" sz="1250" dirty="0"/>
          </a:p>
          <a:p>
            <a:pPr marL="203200" indent="-203200">
              <a:spcAft>
                <a:spcPts val="1000"/>
              </a:spcAft>
              <a:buSzPct val="100000"/>
              <a:buChar char="•"/>
            </a:pPr>
            <a:r>
              <a:rPr lang="en-US" sz="1250" dirty="0">
                <a:solidFill>
                  <a:srgbClr val="22302F"/>
                </a:solidFill>
                <a:latin typeface="Calibri" pitchFamily="34" charset="0"/>
                <a:ea typeface="Calibri" pitchFamily="34" charset="-122"/>
                <a:cs typeface="Calibri" pitchFamily="34" charset="-120"/>
              </a:rPr>
              <a:t>Nombre artístico del artista</a:t>
            </a:r>
            <a:endParaRPr lang="en-US" sz="1250" dirty="0"/>
          </a:p>
          <a:p>
            <a:pPr marL="203200" indent="-203200">
              <a:spcAft>
                <a:spcPts val="1000"/>
              </a:spcAft>
              <a:buSzPct val="100000"/>
              <a:buChar char="•"/>
            </a:pPr>
            <a:r>
              <a:rPr lang="en-US" sz="1250" dirty="0">
                <a:solidFill>
                  <a:srgbClr val="22302F"/>
                </a:solidFill>
                <a:latin typeface="Calibri" pitchFamily="34" charset="0"/>
                <a:ea typeface="Calibri" pitchFamily="34" charset="-122"/>
                <a:cs typeface="Calibri" pitchFamily="34" charset="-120"/>
              </a:rPr>
              <a:t>Directorio: tipo de centro (categoría de 6 valores), ciudad, CP, coordenadas</a:t>
            </a:r>
            <a:endParaRPr lang="en-US" sz="1250" dirty="0"/>
          </a:p>
        </p:txBody>
      </p:sp>
      <p:sp>
        <p:nvSpPr>
          <p:cNvPr id="8" name="Shape 6"/>
          <p:cNvSpPr/>
          <p:nvPr/>
        </p:nvSpPr>
        <p:spPr>
          <a:xfrm>
            <a:off x="4358640" y="1965960"/>
            <a:ext cx="3444240" cy="3383280"/>
          </a:xfrm>
          <a:prstGeom prst="roundRect">
            <a:avLst>
              <a:gd name="adj" fmla="val 2162"/>
            </a:avLst>
          </a:prstGeom>
          <a:solidFill>
            <a:srgbClr val="FFFFFF"/>
          </a:solidFill>
          <a:ln/>
          <a:effectLst>
            <a:outerShdw sx="100000" sy="100000" kx="0" ky="0" algn="bl" rotWithShape="0" blurRad="101600" dist="38100" dir="5400000">
              <a:srgbClr val="9AA8A5">
                <a:alpha val="28000"/>
              </a:srgbClr>
            </a:outerShdw>
          </a:effectLst>
        </p:spPr>
      </p:sp>
      <p:sp>
        <p:nvSpPr>
          <p:cNvPr id="9" name="Shape 7"/>
          <p:cNvSpPr/>
          <p:nvPr/>
        </p:nvSpPr>
        <p:spPr>
          <a:xfrm>
            <a:off x="4587240" y="2194560"/>
            <a:ext cx="274320" cy="274320"/>
          </a:xfrm>
          <a:prstGeom prst="ellipse">
            <a:avLst/>
          </a:prstGeom>
          <a:solidFill>
            <a:srgbClr val="50808E"/>
          </a:solidFill>
          <a:ln/>
        </p:spPr>
      </p:sp>
      <p:sp>
        <p:nvSpPr>
          <p:cNvPr id="10" name="Text 8"/>
          <p:cNvSpPr/>
          <p:nvPr/>
        </p:nvSpPr>
        <p:spPr>
          <a:xfrm>
            <a:off x="4953000" y="2148840"/>
            <a:ext cx="2667000" cy="45720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Nunca se expone</a:t>
            </a:r>
            <a:endParaRPr lang="en-US" sz="1400" dirty="0"/>
          </a:p>
        </p:txBody>
      </p:sp>
      <p:sp>
        <p:nvSpPr>
          <p:cNvPr id="11" name="Text 9"/>
          <p:cNvSpPr/>
          <p:nvPr/>
        </p:nvSpPr>
        <p:spPr>
          <a:xfrm>
            <a:off x="4587240" y="2743200"/>
            <a:ext cx="2987040" cy="237744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22302F"/>
                </a:solidFill>
                <a:latin typeface="Calibri" pitchFamily="34" charset="0"/>
                <a:ea typeface="Calibri" pitchFamily="34" charset="-122"/>
                <a:cs typeface="Calibri" pitchFamily="34" charset="-120"/>
              </a:rPr>
              <a:t>Sala/planta, mensaje de propuesta</a:t>
            </a:r>
            <a:endParaRPr lang="en-US" sz="1250" dirty="0"/>
          </a:p>
          <a:p>
            <a:pPr marL="203200" indent="-203200">
              <a:spcAft>
                <a:spcPts val="1000"/>
              </a:spcAft>
              <a:buSzPct val="100000"/>
              <a:buChar char="•"/>
            </a:pPr>
            <a:r>
              <a:rPr lang="en-US" sz="1250" dirty="0">
                <a:solidFill>
                  <a:srgbClr val="22302F"/>
                </a:solidFill>
                <a:latin typeface="Calibri" pitchFamily="34" charset="0"/>
                <a:ea typeface="Calibri" pitchFamily="34" charset="-122"/>
                <a:cs typeface="Calibri" pitchFamily="34" charset="-120"/>
              </a:rPr>
              <a:t>Email, IDs internos, type interno</a:t>
            </a:r>
            <a:endParaRPr lang="en-US" sz="1250" dirty="0"/>
          </a:p>
          <a:p>
            <a:pPr marL="203200" indent="-203200">
              <a:spcAft>
                <a:spcPts val="1000"/>
              </a:spcAft>
              <a:buSzPct val="100000"/>
              <a:buChar char="•"/>
            </a:pPr>
            <a:r>
              <a:rPr lang="en-US" sz="1250" dirty="0">
                <a:solidFill>
                  <a:srgbClr val="22302F"/>
                </a:solidFill>
                <a:latin typeface="Calibri" pitchFamily="34" charset="0"/>
                <a:ea typeface="Calibri" pitchFamily="34" charset="-122"/>
                <a:cs typeface="Calibri" pitchFamily="34" charset="-120"/>
              </a:rPr>
              <a:t>Ninguna sub-etiqueta más fina que la categoría</a:t>
            </a:r>
            <a:endParaRPr lang="en-US" sz="1250" dirty="0"/>
          </a:p>
        </p:txBody>
      </p:sp>
      <p:sp>
        <p:nvSpPr>
          <p:cNvPr id="12" name="Shape 10"/>
          <p:cNvSpPr/>
          <p:nvPr/>
        </p:nvSpPr>
        <p:spPr>
          <a:xfrm>
            <a:off x="8077200" y="1965960"/>
            <a:ext cx="3444240" cy="3383280"/>
          </a:xfrm>
          <a:prstGeom prst="roundRect">
            <a:avLst>
              <a:gd name="adj" fmla="val 2162"/>
            </a:avLst>
          </a:prstGeom>
          <a:solidFill>
            <a:srgbClr val="FFFFFF"/>
          </a:solidFill>
          <a:ln/>
          <a:effectLst>
            <a:outerShdw sx="100000" sy="100000" kx="0" ky="0" algn="bl" rotWithShape="0" blurRad="101600" dist="38100" dir="5400000">
              <a:srgbClr val="9AA8A5">
                <a:alpha val="28000"/>
              </a:srgbClr>
            </a:outerShdw>
          </a:effectLst>
        </p:spPr>
      </p:sp>
      <p:sp>
        <p:nvSpPr>
          <p:cNvPr id="13" name="Shape 11"/>
          <p:cNvSpPr/>
          <p:nvPr/>
        </p:nvSpPr>
        <p:spPr>
          <a:xfrm>
            <a:off x="8305800" y="2194560"/>
            <a:ext cx="274320" cy="274320"/>
          </a:xfrm>
          <a:prstGeom prst="ellipse">
            <a:avLst/>
          </a:prstGeom>
          <a:solidFill>
            <a:srgbClr val="2F4A4E"/>
          </a:solidFill>
          <a:ln/>
        </p:spPr>
      </p:sp>
      <p:sp>
        <p:nvSpPr>
          <p:cNvPr id="14" name="Text 12"/>
          <p:cNvSpPr/>
          <p:nvPr/>
        </p:nvSpPr>
        <p:spPr>
          <a:xfrm>
            <a:off x="8671560" y="2148840"/>
            <a:ext cx="2667000" cy="45720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Controles implementados</a:t>
            </a:r>
            <a:endParaRPr lang="en-US" sz="1400" dirty="0"/>
          </a:p>
        </p:txBody>
      </p:sp>
      <p:sp>
        <p:nvSpPr>
          <p:cNvPr id="15" name="Text 13"/>
          <p:cNvSpPr/>
          <p:nvPr/>
        </p:nvSpPr>
        <p:spPr>
          <a:xfrm>
            <a:off x="8305800" y="2743200"/>
            <a:ext cx="2987040" cy="237744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22302F"/>
                </a:solidFill>
                <a:latin typeface="Calibri" pitchFamily="34" charset="0"/>
                <a:ea typeface="Calibri" pitchFamily="34" charset="-122"/>
                <a:cs typeface="Calibri" pitchFamily="34" charset="-120"/>
              </a:rPr>
              <a:t>argon2id parametrizado, sesiones revocables (solo hash)</a:t>
            </a:r>
            <a:endParaRPr lang="en-US" sz="1250" dirty="0"/>
          </a:p>
          <a:p>
            <a:pPr marL="203200" indent="-203200">
              <a:spcAft>
                <a:spcPts val="1000"/>
              </a:spcAft>
              <a:buSzPct val="100000"/>
              <a:buChar char="•"/>
            </a:pPr>
            <a:r>
              <a:rPr lang="en-US" sz="1250" dirty="0">
                <a:solidFill>
                  <a:srgbClr val="22302F"/>
                </a:solidFill>
                <a:latin typeface="Calibri" pitchFamily="34" charset="0"/>
                <a:ea typeface="Calibri" pitchFamily="34" charset="-122"/>
                <a:cs typeface="Calibri" pitchFamily="34" charset="-120"/>
              </a:rPr>
              <a:t>CSRF en las 11 rutas mutantes; falla cerrado si falta APP_ORIGIN</a:t>
            </a:r>
            <a:endParaRPr lang="en-US" sz="1250" dirty="0"/>
          </a:p>
          <a:p>
            <a:pPr marL="203200" indent="-203200">
              <a:spcAft>
                <a:spcPts val="1000"/>
              </a:spcAft>
              <a:buSzPct val="100000"/>
              <a:buChar char="•"/>
            </a:pPr>
            <a:r>
              <a:rPr lang="en-US" sz="1250" dirty="0">
                <a:solidFill>
                  <a:srgbClr val="22302F"/>
                </a:solidFill>
                <a:latin typeface="Calibri" pitchFamily="34" charset="0"/>
                <a:ea typeface="Calibri" pitchFamily="34" charset="-122"/>
                <a:cs typeface="Calibri" pitchFamily="34" charset="-120"/>
              </a:rPr>
              <a:t>Headers + CSP con nonce + audit de dependencias (PR #32)</a:t>
            </a:r>
            <a:endParaRPr lang="en-US" sz="1250" dirty="0"/>
          </a:p>
        </p:txBody>
      </p:sp>
      <p:sp>
        <p:nvSpPr>
          <p:cNvPr id="16" name="Shape 14"/>
          <p:cNvSpPr/>
          <p:nvPr/>
        </p:nvSpPr>
        <p:spPr>
          <a:xfrm>
            <a:off x="640080" y="5577840"/>
            <a:ext cx="10881360" cy="868680"/>
          </a:xfrm>
          <a:prstGeom prst="roundRect">
            <a:avLst>
              <a:gd name="adj" fmla="val 8421"/>
            </a:avLst>
          </a:prstGeom>
          <a:solidFill>
            <a:srgbClr val="F0EDE4"/>
          </a:solidFill>
          <a:ln w="12700">
            <a:solidFill>
              <a:srgbClr val="E3DFD2"/>
            </a:solidFill>
            <a:prstDash val="solid"/>
          </a:ln>
        </p:spPr>
      </p:sp>
      <p:sp>
        <p:nvSpPr>
          <p:cNvPr id="17" name="Text 15"/>
          <p:cNvSpPr/>
          <p:nvPr/>
        </p:nvSpPr>
        <p:spPr>
          <a:xfrm>
            <a:off x="914400" y="5577840"/>
            <a:ext cx="10332720" cy="868680"/>
          </a:xfrm>
          <a:prstGeom prst="rect">
            <a:avLst/>
          </a:prstGeom>
          <a:noFill/>
          <a:ln/>
        </p:spPr>
        <p:txBody>
          <a:bodyPr wrap="square" lIns="0" tIns="0" rIns="0" bIns="0" rtlCol="0" anchor="ctr"/>
          <a:lstStyle/>
          <a:p>
            <a:pPr indent="0" marL="0">
              <a:lnSpc>
                <a:spcPct val="102000"/>
              </a:lnSpc>
              <a:buNone/>
            </a:pPr>
            <a:r>
              <a:rPr lang="en-US" sz="1300" b="1" dirty="0">
                <a:solidFill>
                  <a:srgbClr val="8A6D3B"/>
                </a:solidFill>
                <a:latin typeface="Calibri" pitchFamily="34" charset="0"/>
                <a:ea typeface="Calibri" pitchFamily="34" charset="-122"/>
                <a:cs typeface="Calibri" pitchFamily="34" charset="-120"/>
              </a:rPr>
              <a:t>Riesgo aceptado y documentado (T-22):  </a:t>
            </a:r>
            <a:pPr indent="0" marL="0">
              <a:lnSpc>
                <a:spcPct val="102000"/>
              </a:lnSpc>
              <a:buNone/>
            </a:pPr>
            <a:r>
              <a:rPr lang="en-US" sz="1200" dirty="0">
                <a:solidFill>
                  <a:srgbClr val="6B5B36"/>
                </a:solidFill>
                <a:latin typeface="Calibri" pitchFamily="34" charset="0"/>
                <a:ea typeface="Calibri" pitchFamily="34" charset="-122"/>
                <a:cs typeface="Calibri" pitchFamily="34" charset="-120"/>
              </a:rPr>
              <a:t>ampliar el onboarding a residencias, centros ocupacionales y paliativos eleva el listón de protección (adultos vulnerables) mientras la verificación sigue siendo autodeclarada con validación de admin. Verificación institucional real = siguiente hito, no un control ya existente. Falta aún: logging de seguridad.</a:t>
            </a:r>
            <a:endParaRPr lang="en-US" sz="1300" dirty="0"/>
          </a:p>
        </p:txBody>
      </p:sp>
      <p:sp>
        <p:nvSpPr>
          <p:cNvPr id="18" name="Text 16"/>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DEMOSTRACIÓN</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La historia de extremo a extremo a mostrar</a:t>
            </a:r>
            <a:endParaRPr lang="en-US" sz="3000" dirty="0"/>
          </a:p>
        </p:txBody>
      </p:sp>
      <p:sp>
        <p:nvSpPr>
          <p:cNvPr id="4" name="Shape 2"/>
          <p:cNvSpPr/>
          <p:nvPr/>
        </p:nvSpPr>
        <p:spPr>
          <a:xfrm>
            <a:off x="640080" y="1965960"/>
            <a:ext cx="438912" cy="438912"/>
          </a:xfrm>
          <a:prstGeom prst="ellipse">
            <a:avLst/>
          </a:prstGeom>
          <a:solidFill>
            <a:srgbClr val="84B59F"/>
          </a:solidFill>
          <a:ln/>
        </p:spPr>
      </p:sp>
      <p:sp>
        <p:nvSpPr>
          <p:cNvPr id="5" name="Text 3"/>
          <p:cNvSpPr/>
          <p:nvPr/>
        </p:nvSpPr>
        <p:spPr>
          <a:xfrm>
            <a:off x="640080" y="19659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98448" y="1947672"/>
            <a:ext cx="7040880" cy="475488"/>
          </a:xfrm>
          <a:prstGeom prst="rect">
            <a:avLst/>
          </a:prstGeom>
          <a:noFill/>
          <a:ln/>
        </p:spPr>
        <p:txBody>
          <a:bodyPr wrap="square" lIns="0" tIns="0" rIns="0" bIns="0" rtlCol="0" anchor="ctr"/>
          <a:lstStyle/>
          <a:p>
            <a:pPr indent="0" marL="0">
              <a:buNone/>
            </a:pPr>
            <a:r>
              <a:rPr lang="en-US" sz="1450" dirty="0">
                <a:solidFill>
                  <a:srgbClr val="22302F"/>
                </a:solidFill>
                <a:latin typeface="Calibri" pitchFamily="34" charset="0"/>
                <a:ea typeface="Calibri" pitchFamily="34" charset="-122"/>
                <a:cs typeface="Calibri" pitchFamily="34" charset="-120"/>
              </a:rPr>
              <a:t>El admin activa un perfil de Centro y uno de Artista.</a:t>
            </a:r>
            <a:endParaRPr lang="en-US" sz="1450" dirty="0"/>
          </a:p>
        </p:txBody>
      </p:sp>
      <p:sp>
        <p:nvSpPr>
          <p:cNvPr id="7" name="Shape 5"/>
          <p:cNvSpPr/>
          <p:nvPr/>
        </p:nvSpPr>
        <p:spPr>
          <a:xfrm>
            <a:off x="640080" y="2624328"/>
            <a:ext cx="438912" cy="438912"/>
          </a:xfrm>
          <a:prstGeom prst="ellipse">
            <a:avLst/>
          </a:prstGeom>
          <a:solidFill>
            <a:srgbClr val="84B59F"/>
          </a:solidFill>
          <a:ln/>
        </p:spPr>
      </p:sp>
      <p:sp>
        <p:nvSpPr>
          <p:cNvPr id="8" name="Text 6"/>
          <p:cNvSpPr/>
          <p:nvPr/>
        </p:nvSpPr>
        <p:spPr>
          <a:xfrm>
            <a:off x="640080" y="262432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298448" y="2606040"/>
            <a:ext cx="7040880" cy="475488"/>
          </a:xfrm>
          <a:prstGeom prst="rect">
            <a:avLst/>
          </a:prstGeom>
          <a:noFill/>
          <a:ln/>
        </p:spPr>
        <p:txBody>
          <a:bodyPr wrap="square" lIns="0" tIns="0" rIns="0" bIns="0" rtlCol="0" anchor="ctr"/>
          <a:lstStyle/>
          <a:p>
            <a:pPr indent="0" marL="0">
              <a:buNone/>
            </a:pPr>
            <a:r>
              <a:rPr lang="en-US" sz="1450" dirty="0">
                <a:solidFill>
                  <a:srgbClr val="22302F"/>
                </a:solidFill>
                <a:latin typeface="Calibri" pitchFamily="34" charset="0"/>
                <a:ea typeface="Calibri" pitchFamily="34" charset="-122"/>
                <a:cs typeface="Calibri" pitchFamily="34" charset="-120"/>
              </a:rPr>
              <a:t>El Centro activo publica un Slot futuro.</a:t>
            </a:r>
            <a:endParaRPr lang="en-US" sz="1450" dirty="0"/>
          </a:p>
        </p:txBody>
      </p:sp>
      <p:sp>
        <p:nvSpPr>
          <p:cNvPr id="10" name="Shape 8"/>
          <p:cNvSpPr/>
          <p:nvPr/>
        </p:nvSpPr>
        <p:spPr>
          <a:xfrm>
            <a:off x="640080" y="3282696"/>
            <a:ext cx="438912" cy="438912"/>
          </a:xfrm>
          <a:prstGeom prst="ellipse">
            <a:avLst/>
          </a:prstGeom>
          <a:solidFill>
            <a:srgbClr val="84B59F"/>
          </a:solidFill>
          <a:ln/>
        </p:spPr>
      </p:sp>
      <p:sp>
        <p:nvSpPr>
          <p:cNvPr id="11" name="Text 9"/>
          <p:cNvSpPr/>
          <p:nvPr/>
        </p:nvSpPr>
        <p:spPr>
          <a:xfrm>
            <a:off x="640080" y="328269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298448" y="3264408"/>
            <a:ext cx="7040880" cy="475488"/>
          </a:xfrm>
          <a:prstGeom prst="rect">
            <a:avLst/>
          </a:prstGeom>
          <a:noFill/>
          <a:ln/>
        </p:spPr>
        <p:txBody>
          <a:bodyPr wrap="square" lIns="0" tIns="0" rIns="0" bIns="0" rtlCol="0" anchor="ctr"/>
          <a:lstStyle/>
          <a:p>
            <a:pPr indent="0" marL="0">
              <a:buNone/>
            </a:pPr>
            <a:r>
              <a:rPr lang="en-US" sz="1450" dirty="0">
                <a:solidFill>
                  <a:srgbClr val="22302F"/>
                </a:solidFill>
                <a:latin typeface="Calibri" pitchFamily="34" charset="0"/>
                <a:ea typeface="Calibri" pitchFamily="34" charset="-122"/>
                <a:cs typeface="Calibri" pitchFamily="34" charset="-120"/>
              </a:rPr>
              <a:t>Un Artista activo envía una Propuesta; un segundo puede competir.</a:t>
            </a:r>
            <a:endParaRPr lang="en-US" sz="1450" dirty="0"/>
          </a:p>
        </p:txBody>
      </p:sp>
      <p:sp>
        <p:nvSpPr>
          <p:cNvPr id="13" name="Shape 11"/>
          <p:cNvSpPr/>
          <p:nvPr/>
        </p:nvSpPr>
        <p:spPr>
          <a:xfrm>
            <a:off x="640080" y="3941064"/>
            <a:ext cx="438912" cy="438912"/>
          </a:xfrm>
          <a:prstGeom prst="ellipse">
            <a:avLst/>
          </a:prstGeom>
          <a:solidFill>
            <a:srgbClr val="84B59F"/>
          </a:solidFill>
          <a:ln/>
        </p:spPr>
      </p:sp>
      <p:sp>
        <p:nvSpPr>
          <p:cNvPr id="14" name="Text 12"/>
          <p:cNvSpPr/>
          <p:nvPr/>
        </p:nvSpPr>
        <p:spPr>
          <a:xfrm>
            <a:off x="640080" y="394106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298448" y="3922776"/>
            <a:ext cx="7040880" cy="475488"/>
          </a:xfrm>
          <a:prstGeom prst="rect">
            <a:avLst/>
          </a:prstGeom>
          <a:noFill/>
          <a:ln/>
        </p:spPr>
        <p:txBody>
          <a:bodyPr wrap="square" lIns="0" tIns="0" rIns="0" bIns="0" rtlCol="0" anchor="ctr"/>
          <a:lstStyle/>
          <a:p>
            <a:pPr indent="0" marL="0">
              <a:buNone/>
            </a:pPr>
            <a:r>
              <a:rPr lang="en-US" sz="1450" dirty="0">
                <a:solidFill>
                  <a:srgbClr val="22302F"/>
                </a:solidFill>
                <a:latin typeface="Calibri" pitchFamily="34" charset="0"/>
                <a:ea typeface="Calibri" pitchFamily="34" charset="-122"/>
                <a:cs typeface="Calibri" pitchFamily="34" charset="-120"/>
              </a:rPr>
              <a:t>El Centro propietario acepta una Propuesta.</a:t>
            </a:r>
            <a:endParaRPr lang="en-US" sz="1450" dirty="0"/>
          </a:p>
        </p:txBody>
      </p:sp>
      <p:sp>
        <p:nvSpPr>
          <p:cNvPr id="16" name="Shape 14"/>
          <p:cNvSpPr/>
          <p:nvPr/>
        </p:nvSpPr>
        <p:spPr>
          <a:xfrm>
            <a:off x="640080" y="4599432"/>
            <a:ext cx="438912" cy="438912"/>
          </a:xfrm>
          <a:prstGeom prst="ellipse">
            <a:avLst/>
          </a:prstGeom>
          <a:solidFill>
            <a:srgbClr val="50808E"/>
          </a:solidFill>
          <a:ln/>
        </p:spPr>
      </p:sp>
      <p:sp>
        <p:nvSpPr>
          <p:cNvPr id="17" name="Text 15"/>
          <p:cNvSpPr/>
          <p:nvPr/>
        </p:nvSpPr>
        <p:spPr>
          <a:xfrm>
            <a:off x="640080" y="45994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298448" y="4581144"/>
            <a:ext cx="7040880" cy="475488"/>
          </a:xfrm>
          <a:prstGeom prst="rect">
            <a:avLst/>
          </a:prstGeom>
          <a:noFill/>
          <a:ln/>
        </p:spPr>
        <p:txBody>
          <a:bodyPr wrap="square" lIns="0" tIns="0" rIns="0" bIns="0" rtlCol="0" anchor="ctr"/>
          <a:lstStyle/>
          <a:p>
            <a:pPr indent="0" marL="0">
              <a:buNone/>
            </a:pPr>
            <a:r>
              <a:rPr lang="en-US" sz="1450" dirty="0">
                <a:solidFill>
                  <a:srgbClr val="22302F"/>
                </a:solidFill>
                <a:latin typeface="Calibri" pitchFamily="34" charset="0"/>
                <a:ea typeface="Calibri" pitchFamily="34" charset="-122"/>
                <a:cs typeface="Calibri" pitchFamily="34" charset="-120"/>
              </a:rPr>
              <a:t>El sistema rellena el Slot, rechaza rivales y publica un Evento.</a:t>
            </a:r>
            <a:endParaRPr lang="en-US" sz="1450" dirty="0"/>
          </a:p>
        </p:txBody>
      </p:sp>
      <p:sp>
        <p:nvSpPr>
          <p:cNvPr id="19" name="Shape 17"/>
          <p:cNvSpPr/>
          <p:nvPr/>
        </p:nvSpPr>
        <p:spPr>
          <a:xfrm>
            <a:off x="640080" y="5257800"/>
            <a:ext cx="438912" cy="438912"/>
          </a:xfrm>
          <a:prstGeom prst="ellipse">
            <a:avLst/>
          </a:prstGeom>
          <a:solidFill>
            <a:srgbClr val="84B59F"/>
          </a:solidFill>
          <a:ln/>
        </p:spPr>
      </p:sp>
      <p:sp>
        <p:nvSpPr>
          <p:cNvPr id="20" name="Text 18"/>
          <p:cNvSpPr/>
          <p:nvPr/>
        </p:nvSpPr>
        <p:spPr>
          <a:xfrm>
            <a:off x="640080" y="5257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p:nvPr/>
        </p:nvSpPr>
        <p:spPr>
          <a:xfrm>
            <a:off x="1298448" y="5239512"/>
            <a:ext cx="7040880" cy="475488"/>
          </a:xfrm>
          <a:prstGeom prst="rect">
            <a:avLst/>
          </a:prstGeom>
          <a:noFill/>
          <a:ln/>
        </p:spPr>
        <p:txBody>
          <a:bodyPr wrap="square" lIns="0" tIns="0" rIns="0" bIns="0" rtlCol="0" anchor="ctr"/>
          <a:lstStyle/>
          <a:p>
            <a:pPr indent="0" marL="0">
              <a:buNone/>
            </a:pPr>
            <a:r>
              <a:rPr lang="en-US" sz="1450" dirty="0">
                <a:solidFill>
                  <a:srgbClr val="22302F"/>
                </a:solidFill>
                <a:latin typeface="Calibri" pitchFamily="34" charset="0"/>
                <a:ea typeface="Calibri" pitchFamily="34" charset="-122"/>
                <a:cs typeface="Calibri" pitchFamily="34" charset="-120"/>
              </a:rPr>
              <a:t>Un visitante anónimo ve solo la proyección pública del Evento.</a:t>
            </a:r>
            <a:endParaRPr lang="en-US" sz="1450" dirty="0"/>
          </a:p>
        </p:txBody>
      </p:sp>
      <p:sp>
        <p:nvSpPr>
          <p:cNvPr id="22" name="Shape 20"/>
          <p:cNvSpPr/>
          <p:nvPr/>
        </p:nvSpPr>
        <p:spPr>
          <a:xfrm>
            <a:off x="8229600" y="1965960"/>
            <a:ext cx="3291840" cy="3931920"/>
          </a:xfrm>
          <a:prstGeom prst="roundRect">
            <a:avLst>
              <a:gd name="adj" fmla="val 2222"/>
            </a:avLst>
          </a:prstGeom>
          <a:solidFill>
            <a:srgbClr val="2F4A4E"/>
          </a:solidFill>
          <a:ln/>
        </p:spPr>
      </p:sp>
      <p:sp>
        <p:nvSpPr>
          <p:cNvPr id="23" name="Text 21"/>
          <p:cNvSpPr/>
          <p:nvPr/>
        </p:nvSpPr>
        <p:spPr>
          <a:xfrm>
            <a:off x="8503920" y="2240280"/>
            <a:ext cx="27432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Probado, no aspiracional</a:t>
            </a:r>
            <a:endParaRPr lang="en-US" sz="1700" dirty="0"/>
          </a:p>
        </p:txBody>
      </p:sp>
      <p:sp>
        <p:nvSpPr>
          <p:cNvPr id="24" name="Text 22"/>
          <p:cNvSpPr/>
          <p:nvPr/>
        </p:nvSpPr>
        <p:spPr>
          <a:xfrm>
            <a:off x="8503920" y="2788920"/>
            <a:ext cx="2743200" cy="2011680"/>
          </a:xfrm>
          <a:prstGeom prst="rect">
            <a:avLst/>
          </a:prstGeom>
          <a:noFill/>
          <a:ln/>
        </p:spPr>
        <p:txBody>
          <a:bodyPr wrap="square" lIns="0" tIns="0" rIns="0" bIns="0" rtlCol="0" anchor="ctr"/>
          <a:lstStyle/>
          <a:p>
            <a:pPr indent="0" marL="0">
              <a:lnSpc>
                <a:spcPct val="112000"/>
              </a:lnSpc>
              <a:buNone/>
            </a:pPr>
            <a:r>
              <a:rPr lang="en-US" sz="1300" dirty="0">
                <a:solidFill>
                  <a:srgbClr val="CFE3DC"/>
                </a:solidFill>
                <a:latin typeface="Calibri" pitchFamily="34" charset="0"/>
                <a:ea typeface="Calibri" pitchFamily="34" charset="-122"/>
                <a:cs typeface="Calibri" pitchFamily="34" charset="-120"/>
              </a:rPr>
              <a:t>e2e/demo-chain.spec.ts automatiza exactamente estos seis pasos y pasa en CI contra Postgres real. Un test compañero verifica que la respuesta pública contiene solo los campos permitidos.</a:t>
            </a:r>
            <a:endParaRPr lang="en-US" sz="1300" dirty="0"/>
          </a:p>
        </p:txBody>
      </p:sp>
      <p:sp>
        <p:nvSpPr>
          <p:cNvPr id="25" name="Text 23"/>
          <p:cNvSpPr/>
          <p:nvPr/>
        </p:nvSpPr>
        <p:spPr>
          <a:xfrm>
            <a:off x="8503920" y="4846320"/>
            <a:ext cx="2743200" cy="914400"/>
          </a:xfrm>
          <a:prstGeom prst="rect">
            <a:avLst/>
          </a:prstGeom>
          <a:noFill/>
          <a:ln/>
        </p:spPr>
        <p:txBody>
          <a:bodyPr wrap="square" lIns="0" tIns="0" rIns="0" bIns="0" rtlCol="0" anchor="ctr"/>
          <a:lstStyle/>
          <a:p>
            <a:pPr indent="0" marL="0">
              <a:lnSpc>
                <a:spcPct val="105000"/>
              </a:lnSpc>
              <a:buNone/>
            </a:pPr>
            <a:r>
              <a:rPr lang="en-US" sz="1150" i="1" dirty="0">
                <a:solidFill>
                  <a:srgbClr val="84B59F"/>
                </a:solidFill>
                <a:latin typeface="Calibri" pitchFamily="34" charset="0"/>
                <a:ea typeface="Calibri" pitchFamily="34" charset="-122"/>
                <a:cs typeface="Calibri" pitchFamily="34" charset="-120"/>
              </a:rPr>
              <a:t>[AUTOR] Decidir demo del día: grabada (identificada como tal, misma revisión desplegada) o en vivo diciendo que CI es el registro reproducible.</a:t>
            </a:r>
            <a:endParaRPr lang="en-US" sz="1150" dirty="0"/>
          </a:p>
        </p:txBody>
      </p:sp>
      <p:sp>
        <p:nvSpPr>
          <p:cNvPr id="26" name="Text 24"/>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ESTADO HONESTO DEL PROYECTO</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Lo implementado, lo pendiente y lo planificado</a:t>
            </a:r>
            <a:endParaRPr lang="en-US" sz="3000" dirty="0"/>
          </a:p>
        </p:txBody>
      </p:sp>
      <p:sp>
        <p:nvSpPr>
          <p:cNvPr id="4" name="Shape 2"/>
          <p:cNvSpPr/>
          <p:nvPr/>
        </p:nvSpPr>
        <p:spPr>
          <a:xfrm>
            <a:off x="640080" y="1965960"/>
            <a:ext cx="3444240" cy="3794760"/>
          </a:xfrm>
          <a:prstGeom prst="roundRect">
            <a:avLst>
              <a:gd name="adj" fmla="val 2124"/>
            </a:avLst>
          </a:prstGeom>
          <a:solidFill>
            <a:srgbClr val="FFFFFF"/>
          </a:solidFill>
          <a:ln/>
          <a:effectLst>
            <a:outerShdw sx="100000" sy="100000" kx="0" ky="0" algn="bl" rotWithShape="0" blurRad="101600" dist="38100" dir="5400000">
              <a:srgbClr val="9AA8A5">
                <a:alpha val="28000"/>
              </a:srgbClr>
            </a:outerShdw>
          </a:effectLst>
        </p:spPr>
      </p:sp>
      <p:sp>
        <p:nvSpPr>
          <p:cNvPr id="5" name="Shape 3"/>
          <p:cNvSpPr/>
          <p:nvPr/>
        </p:nvSpPr>
        <p:spPr>
          <a:xfrm>
            <a:off x="640080" y="1965960"/>
            <a:ext cx="3444240" cy="566928"/>
          </a:xfrm>
          <a:prstGeom prst="roundRect">
            <a:avLst>
              <a:gd name="adj" fmla="val 12903"/>
            </a:avLst>
          </a:prstGeom>
          <a:solidFill>
            <a:srgbClr val="84B59F"/>
          </a:solidFill>
          <a:ln/>
        </p:spPr>
      </p:sp>
      <p:sp>
        <p:nvSpPr>
          <p:cNvPr id="6" name="Text 4"/>
          <p:cNvSpPr/>
          <p:nvPr/>
        </p:nvSpPr>
        <p:spPr>
          <a:xfrm>
            <a:off x="822960" y="1965960"/>
            <a:ext cx="3078480" cy="566928"/>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Implementado y probado por un test ejecutado</a:t>
            </a:r>
            <a:endParaRPr lang="en-US" sz="1250" dirty="0"/>
          </a:p>
        </p:txBody>
      </p:sp>
      <p:sp>
        <p:nvSpPr>
          <p:cNvPr id="7" name="Text 5"/>
          <p:cNvSpPr/>
          <p:nvPr/>
        </p:nvSpPr>
        <p:spPr>
          <a:xfrm>
            <a:off x="841248" y="2697480"/>
            <a:ext cx="3041904" cy="2880360"/>
          </a:xfrm>
          <a:prstGeom prst="rect">
            <a:avLst/>
          </a:prstGeom>
          <a:noFill/>
          <a:ln/>
        </p:spPr>
        <p:txBody>
          <a:bodyPr wrap="square" lIns="0" tIns="0" rIns="0" bIns="0" rtlCol="0" anchor="t"/>
          <a:lstStyle/>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Máquinas de estado y cascadas de dominio</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Puertos, casos de uso y guards de aplicación</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Repositorios Prisma, migraciones, row locks, índices parciales</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Sesiones, CSRF en cada mutación, rate limiter atómico</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Allow-list público en runtime, UI y rutas API</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Despliegue sirviendo datos semilla · 6 tipos de centro</a:t>
            </a:r>
            <a:endParaRPr lang="en-US" sz="1180" dirty="0"/>
          </a:p>
        </p:txBody>
      </p:sp>
      <p:sp>
        <p:nvSpPr>
          <p:cNvPr id="8" name="Shape 6"/>
          <p:cNvSpPr/>
          <p:nvPr/>
        </p:nvSpPr>
        <p:spPr>
          <a:xfrm>
            <a:off x="4358640" y="1965960"/>
            <a:ext cx="3444240" cy="3794760"/>
          </a:xfrm>
          <a:prstGeom prst="roundRect">
            <a:avLst>
              <a:gd name="adj" fmla="val 2124"/>
            </a:avLst>
          </a:prstGeom>
          <a:solidFill>
            <a:srgbClr val="FFFFFF"/>
          </a:solidFill>
          <a:ln/>
          <a:effectLst>
            <a:outerShdw sx="100000" sy="100000" kx="0" ky="0" algn="bl" rotWithShape="0" blurRad="101600" dist="38100" dir="5400000">
              <a:srgbClr val="9AA8A5">
                <a:alpha val="28000"/>
              </a:srgbClr>
            </a:outerShdw>
          </a:effectLst>
        </p:spPr>
      </p:sp>
      <p:sp>
        <p:nvSpPr>
          <p:cNvPr id="9" name="Shape 7"/>
          <p:cNvSpPr/>
          <p:nvPr/>
        </p:nvSpPr>
        <p:spPr>
          <a:xfrm>
            <a:off x="4358640" y="1965960"/>
            <a:ext cx="3444240" cy="566928"/>
          </a:xfrm>
          <a:prstGeom prst="roundRect">
            <a:avLst>
              <a:gd name="adj" fmla="val 12903"/>
            </a:avLst>
          </a:prstGeom>
          <a:solidFill>
            <a:srgbClr val="69A297"/>
          </a:solidFill>
          <a:ln/>
        </p:spPr>
      </p:sp>
      <p:sp>
        <p:nvSpPr>
          <p:cNvPr id="10" name="Text 8"/>
          <p:cNvSpPr/>
          <p:nvPr/>
        </p:nvSpPr>
        <p:spPr>
          <a:xfrm>
            <a:off x="4541520" y="1965960"/>
            <a:ext cx="3078480" cy="566928"/>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Implementado, en revisión (PR #31/#32)</a:t>
            </a:r>
            <a:endParaRPr lang="en-US" sz="1250" dirty="0"/>
          </a:p>
        </p:txBody>
      </p:sp>
      <p:sp>
        <p:nvSpPr>
          <p:cNvPr id="11" name="Text 9"/>
          <p:cNvSpPr/>
          <p:nvPr/>
        </p:nvSpPr>
        <p:spPr>
          <a:xfrm>
            <a:off x="4559808" y="2697480"/>
            <a:ext cx="3041904" cy="2880360"/>
          </a:xfrm>
          <a:prstGeom prst="rect">
            <a:avLst/>
          </a:prstGeom>
          <a:noFill/>
          <a:ln/>
        </p:spPr>
        <p:txBody>
          <a:bodyPr wrap="square" lIns="0" tIns="0" rIns="0" bIns="0" rtlCol="0" anchor="t"/>
          <a:lstStyle/>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Matriz de estados del agregado + límites de texto (dominio)</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Security headers, CSP con nonce</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Dependabot + audit de dependencias en CI</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Verificado contra build de producción</a:t>
            </a:r>
            <a:endParaRPr lang="en-US" sz="1180" dirty="0"/>
          </a:p>
        </p:txBody>
      </p:sp>
      <p:sp>
        <p:nvSpPr>
          <p:cNvPr id="12" name="Shape 10"/>
          <p:cNvSpPr/>
          <p:nvPr/>
        </p:nvSpPr>
        <p:spPr>
          <a:xfrm>
            <a:off x="8077200" y="1965960"/>
            <a:ext cx="3444240" cy="3794760"/>
          </a:xfrm>
          <a:prstGeom prst="roundRect">
            <a:avLst>
              <a:gd name="adj" fmla="val 2124"/>
            </a:avLst>
          </a:prstGeom>
          <a:solidFill>
            <a:srgbClr val="FFFFFF"/>
          </a:solidFill>
          <a:ln/>
          <a:effectLst>
            <a:outerShdw sx="100000" sy="100000" kx="0" ky="0" algn="bl" rotWithShape="0" blurRad="101600" dist="38100" dir="5400000">
              <a:srgbClr val="9AA8A5">
                <a:alpha val="28000"/>
              </a:srgbClr>
            </a:outerShdw>
          </a:effectLst>
        </p:spPr>
      </p:sp>
      <p:sp>
        <p:nvSpPr>
          <p:cNvPr id="13" name="Shape 11"/>
          <p:cNvSpPr/>
          <p:nvPr/>
        </p:nvSpPr>
        <p:spPr>
          <a:xfrm>
            <a:off x="8077200" y="1965960"/>
            <a:ext cx="3444240" cy="566928"/>
          </a:xfrm>
          <a:prstGeom prst="roundRect">
            <a:avLst>
              <a:gd name="adj" fmla="val 12903"/>
            </a:avLst>
          </a:prstGeom>
          <a:solidFill>
            <a:srgbClr val="50808E"/>
          </a:solidFill>
          <a:ln/>
        </p:spPr>
      </p:sp>
      <p:sp>
        <p:nvSpPr>
          <p:cNvPr id="14" name="Text 12"/>
          <p:cNvSpPr/>
          <p:nvPr/>
        </p:nvSpPr>
        <p:spPr>
          <a:xfrm>
            <a:off x="8260080" y="1965960"/>
            <a:ext cx="3078480" cy="566928"/>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Pendiente</a:t>
            </a:r>
            <a:endParaRPr lang="en-US" sz="1250" dirty="0"/>
          </a:p>
        </p:txBody>
      </p:sp>
      <p:sp>
        <p:nvSpPr>
          <p:cNvPr id="15" name="Text 13"/>
          <p:cNvSpPr/>
          <p:nvPr/>
        </p:nvSpPr>
        <p:spPr>
          <a:xfrm>
            <a:off x="8278368" y="2697480"/>
            <a:ext cx="3041904" cy="2880360"/>
          </a:xfrm>
          <a:prstGeom prst="rect">
            <a:avLst/>
          </a:prstGeom>
          <a:noFill/>
          <a:ln/>
        </p:spPr>
        <p:txBody>
          <a:bodyPr wrap="square" lIns="0" tIns="0" rIns="0" bIns="0" rtlCol="0" anchor="t"/>
          <a:lstStyle/>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Logging de seguridad y alertas</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Validación de esquema/tamaño de body</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Enriquecer experiencia pública</a:t>
            </a:r>
            <a:endParaRPr lang="en-US" sz="1180" dirty="0"/>
          </a:p>
          <a:p>
            <a:pPr marL="203200" indent="-203200">
              <a:spcAft>
                <a:spcPts val="800"/>
              </a:spcAft>
              <a:buSzPct val="100000"/>
              <a:buChar char="•"/>
            </a:pPr>
            <a:r>
              <a:rPr lang="en-US" sz="1180" dirty="0">
                <a:solidFill>
                  <a:srgbClr val="22302F"/>
                </a:solidFill>
                <a:latin typeface="Calibri" pitchFamily="34" charset="0"/>
                <a:ea typeface="Calibri" pitchFamily="34" charset="-122"/>
                <a:cs typeface="Calibri" pitchFamily="34" charset="-120"/>
              </a:rPr>
              <a:t>Repo público · memoria · euskera · vídeo</a:t>
            </a:r>
            <a:endParaRPr lang="en-US" sz="1180" dirty="0"/>
          </a:p>
        </p:txBody>
      </p:sp>
      <p:sp>
        <p:nvSpPr>
          <p:cNvPr id="16" name="Text 14"/>
          <p:cNvSpPr/>
          <p:nvPr/>
        </p:nvSpPr>
        <p:spPr>
          <a:xfrm>
            <a:off x="640080" y="5989320"/>
            <a:ext cx="10881360" cy="457200"/>
          </a:xfrm>
          <a:prstGeom prst="rect">
            <a:avLst/>
          </a:prstGeom>
          <a:noFill/>
          <a:ln/>
        </p:spPr>
        <p:txBody>
          <a:bodyPr wrap="square" lIns="0" tIns="0" rIns="0" bIns="0" rtlCol="0" anchor="ctr"/>
          <a:lstStyle/>
          <a:p>
            <a:pPr indent="0" marL="0">
              <a:buNone/>
            </a:pPr>
            <a:r>
              <a:rPr lang="en-US" sz="1200" i="1" dirty="0">
                <a:solidFill>
                  <a:srgbClr val="6B7A78"/>
                </a:solidFill>
                <a:latin typeface="Calibri" pitchFamily="34" charset="0"/>
                <a:ea typeface="Calibri" pitchFamily="34" charset="-122"/>
                <a:cs typeface="Calibri" pitchFamily="34" charset="-120"/>
              </a:rPr>
              <a:t>[AUTOR] Si el repo sigue privado en la defensa, decilo en esta diapositiva: una limitación declarada se lee como rigor; una descubierta, no.</a:t>
            </a:r>
            <a:endParaRPr lang="en-US" sz="1200" dirty="0"/>
          </a:p>
        </p:txBody>
      </p:sp>
      <p:sp>
        <p:nvSpPr>
          <p:cNvPr id="17" name="Text 15"/>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2"/>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69A297"/>
                </a:solidFill>
                <a:latin typeface="Calibri" pitchFamily="34" charset="0"/>
                <a:ea typeface="Calibri" pitchFamily="34" charset="-122"/>
                <a:cs typeface="Calibri" pitchFamily="34" charset="-120"/>
              </a:rPr>
              <a:t>TRABAJO FUTURO</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2F4A4E"/>
                </a:solidFill>
                <a:latin typeface="Cambria" pitchFamily="34" charset="0"/>
                <a:ea typeface="Cambria" pitchFamily="34" charset="-122"/>
                <a:cs typeface="Cambria" pitchFamily="34" charset="-120"/>
              </a:rPr>
              <a:t>Después de un núcleo seguro</a:t>
            </a:r>
            <a:endParaRPr lang="en-US" sz="3000" dirty="0"/>
          </a:p>
        </p:txBody>
      </p:sp>
      <p:sp>
        <p:nvSpPr>
          <p:cNvPr id="4" name="Shape 2"/>
          <p:cNvSpPr/>
          <p:nvPr/>
        </p:nvSpPr>
        <p:spPr>
          <a:xfrm>
            <a:off x="640080" y="1965960"/>
            <a:ext cx="10881360" cy="777240"/>
          </a:xfrm>
          <a:prstGeom prst="roundRect">
            <a:avLst>
              <a:gd name="adj" fmla="val 9412"/>
            </a:avLst>
          </a:prstGeom>
          <a:solidFill>
            <a:srgbClr val="FFFFFF"/>
          </a:solidFill>
          <a:ln/>
          <a:effectLst>
            <a:outerShdw sx="100000" sy="100000" kx="0" ky="0" algn="bl" rotWithShape="0" blurRad="101600" dist="38100" dir="5400000">
              <a:srgbClr val="9AA8A5">
                <a:alpha val="28000"/>
              </a:srgbClr>
            </a:outerShdw>
          </a:effectLst>
        </p:spPr>
      </p:sp>
      <p:sp>
        <p:nvSpPr>
          <p:cNvPr id="5" name="Shape 3"/>
          <p:cNvSpPr/>
          <p:nvPr/>
        </p:nvSpPr>
        <p:spPr>
          <a:xfrm>
            <a:off x="841248" y="2139696"/>
            <a:ext cx="429768" cy="429768"/>
          </a:xfrm>
          <a:prstGeom prst="ellipse">
            <a:avLst/>
          </a:prstGeom>
          <a:solidFill>
            <a:srgbClr val="69A297"/>
          </a:solidFill>
          <a:ln/>
        </p:spPr>
      </p:sp>
      <p:sp>
        <p:nvSpPr>
          <p:cNvPr id="6" name="Text 4"/>
          <p:cNvSpPr/>
          <p:nvPr/>
        </p:nvSpPr>
        <p:spPr>
          <a:xfrm>
            <a:off x="841248" y="2139696"/>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63040" y="2057400"/>
            <a:ext cx="3840480" cy="59436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Terminar el hardening del Bloque 1</a:t>
            </a:r>
            <a:endParaRPr lang="en-US" sz="1400" dirty="0"/>
          </a:p>
        </p:txBody>
      </p:sp>
      <p:sp>
        <p:nvSpPr>
          <p:cNvPr id="8" name="Text 6"/>
          <p:cNvSpPr/>
          <p:nvPr/>
        </p:nvSpPr>
        <p:spPr>
          <a:xfrm>
            <a:off x="5394960" y="2057400"/>
            <a:ext cx="5943600" cy="594360"/>
          </a:xfrm>
          <a:prstGeom prst="rect">
            <a:avLst/>
          </a:prstGeom>
          <a:noFill/>
          <a:ln/>
        </p:spPr>
        <p:txBody>
          <a:bodyPr wrap="square" lIns="0" tIns="0" rIns="0" bIns="0" rtlCol="0" anchor="ctr"/>
          <a:lstStyle/>
          <a:p>
            <a:pPr indent="0" marL="0">
              <a:lnSpc>
                <a:spcPct val="102000"/>
              </a:lnSpc>
              <a:buNone/>
            </a:pPr>
            <a:r>
              <a:rPr lang="en-US" sz="1250" dirty="0">
                <a:solidFill>
                  <a:srgbClr val="6B7A78"/>
                </a:solidFill>
                <a:latin typeface="Calibri" pitchFamily="34" charset="0"/>
                <a:ea typeface="Calibri" pitchFamily="34" charset="-122"/>
                <a:cs typeface="Calibri" pitchFamily="34" charset="-120"/>
              </a:rPr>
              <a:t>Logging de seguridad, validación de request, gobernanza de dependencias.</a:t>
            </a:r>
            <a:endParaRPr lang="en-US" sz="1250" dirty="0"/>
          </a:p>
        </p:txBody>
      </p:sp>
      <p:sp>
        <p:nvSpPr>
          <p:cNvPr id="9" name="Shape 7"/>
          <p:cNvSpPr/>
          <p:nvPr/>
        </p:nvSpPr>
        <p:spPr>
          <a:xfrm>
            <a:off x="640080" y="2862072"/>
            <a:ext cx="10881360" cy="777240"/>
          </a:xfrm>
          <a:prstGeom prst="roundRect">
            <a:avLst>
              <a:gd name="adj" fmla="val 9412"/>
            </a:avLst>
          </a:prstGeom>
          <a:solidFill>
            <a:srgbClr val="FFFFFF"/>
          </a:solidFill>
          <a:ln/>
          <a:effectLst>
            <a:outerShdw sx="100000" sy="100000" kx="0" ky="0" algn="bl" rotWithShape="0" blurRad="101600" dist="38100" dir="5400000">
              <a:srgbClr val="9AA8A5">
                <a:alpha val="28000"/>
              </a:srgbClr>
            </a:outerShdw>
          </a:effectLst>
        </p:spPr>
      </p:sp>
      <p:sp>
        <p:nvSpPr>
          <p:cNvPr id="10" name="Shape 8"/>
          <p:cNvSpPr/>
          <p:nvPr/>
        </p:nvSpPr>
        <p:spPr>
          <a:xfrm>
            <a:off x="841248" y="3035808"/>
            <a:ext cx="429768" cy="429768"/>
          </a:xfrm>
          <a:prstGeom prst="ellipse">
            <a:avLst/>
          </a:prstGeom>
          <a:solidFill>
            <a:srgbClr val="69A297"/>
          </a:solidFill>
          <a:ln/>
        </p:spPr>
      </p:sp>
      <p:sp>
        <p:nvSpPr>
          <p:cNvPr id="11" name="Text 9"/>
          <p:cNvSpPr/>
          <p:nvPr/>
        </p:nvSpPr>
        <p:spPr>
          <a:xfrm>
            <a:off x="841248" y="3035808"/>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63040" y="2953512"/>
            <a:ext cx="3840480" cy="59436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Bloque 2 — Valoraciones</a:t>
            </a:r>
            <a:endParaRPr lang="en-US" sz="1400" dirty="0"/>
          </a:p>
        </p:txBody>
      </p:sp>
      <p:sp>
        <p:nvSpPr>
          <p:cNvPr id="13" name="Text 11"/>
          <p:cNvSpPr/>
          <p:nvPr/>
        </p:nvSpPr>
        <p:spPr>
          <a:xfrm>
            <a:off x="5394960" y="2953512"/>
            <a:ext cx="5943600" cy="594360"/>
          </a:xfrm>
          <a:prstGeom prst="rect">
            <a:avLst/>
          </a:prstGeom>
          <a:noFill/>
          <a:ln/>
        </p:spPr>
        <p:txBody>
          <a:bodyPr wrap="square" lIns="0" tIns="0" rIns="0" bIns="0" rtlCol="0" anchor="ctr"/>
          <a:lstStyle/>
          <a:p>
            <a:pPr indent="0" marL="0">
              <a:lnSpc>
                <a:spcPct val="102000"/>
              </a:lnSpc>
              <a:buNone/>
            </a:pPr>
            <a:r>
              <a:rPr lang="en-US" sz="1250" dirty="0">
                <a:solidFill>
                  <a:srgbClr val="6B7A78"/>
                </a:solidFill>
                <a:latin typeface="Calibri" pitchFamily="34" charset="0"/>
                <a:ea typeface="Calibri" pitchFamily="34" charset="-122"/>
                <a:cs typeface="Calibri" pitchFamily="34" charset="-120"/>
              </a:rPr>
              <a:t>Solo tras Event.completed, una por cuenta/evento.</a:t>
            </a:r>
            <a:endParaRPr lang="en-US" sz="1250" dirty="0"/>
          </a:p>
        </p:txBody>
      </p:sp>
      <p:sp>
        <p:nvSpPr>
          <p:cNvPr id="14" name="Shape 12"/>
          <p:cNvSpPr/>
          <p:nvPr/>
        </p:nvSpPr>
        <p:spPr>
          <a:xfrm>
            <a:off x="640080" y="3758184"/>
            <a:ext cx="10881360" cy="777240"/>
          </a:xfrm>
          <a:prstGeom prst="roundRect">
            <a:avLst>
              <a:gd name="adj" fmla="val 9412"/>
            </a:avLst>
          </a:prstGeom>
          <a:solidFill>
            <a:srgbClr val="FFFFFF"/>
          </a:solidFill>
          <a:ln/>
          <a:effectLst>
            <a:outerShdw sx="100000" sy="100000" kx="0" ky="0" algn="bl" rotWithShape="0" blurRad="101600" dist="38100" dir="5400000">
              <a:srgbClr val="9AA8A5">
                <a:alpha val="28000"/>
              </a:srgbClr>
            </a:outerShdw>
          </a:effectLst>
        </p:spPr>
      </p:sp>
      <p:sp>
        <p:nvSpPr>
          <p:cNvPr id="15" name="Shape 13"/>
          <p:cNvSpPr/>
          <p:nvPr/>
        </p:nvSpPr>
        <p:spPr>
          <a:xfrm>
            <a:off x="841248" y="3931920"/>
            <a:ext cx="429768" cy="429768"/>
          </a:xfrm>
          <a:prstGeom prst="ellipse">
            <a:avLst/>
          </a:prstGeom>
          <a:solidFill>
            <a:srgbClr val="69A297"/>
          </a:solidFill>
          <a:ln/>
        </p:spPr>
      </p:sp>
      <p:sp>
        <p:nvSpPr>
          <p:cNvPr id="16" name="Text 14"/>
          <p:cNvSpPr/>
          <p:nvPr/>
        </p:nvSpPr>
        <p:spPr>
          <a:xfrm>
            <a:off x="841248" y="3931920"/>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63040" y="3849624"/>
            <a:ext cx="3840480" cy="59436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Bloque 3 — Mecenazgo simulado</a:t>
            </a:r>
            <a:endParaRPr lang="en-US" sz="1400" dirty="0"/>
          </a:p>
        </p:txBody>
      </p:sp>
      <p:sp>
        <p:nvSpPr>
          <p:cNvPr id="18" name="Text 16"/>
          <p:cNvSpPr/>
          <p:nvPr/>
        </p:nvSpPr>
        <p:spPr>
          <a:xfrm>
            <a:off x="5394960" y="3849624"/>
            <a:ext cx="5943600" cy="594360"/>
          </a:xfrm>
          <a:prstGeom prst="rect">
            <a:avLst/>
          </a:prstGeom>
          <a:noFill/>
          <a:ln/>
        </p:spPr>
        <p:txBody>
          <a:bodyPr wrap="square" lIns="0" tIns="0" rIns="0" bIns="0" rtlCol="0" anchor="ctr"/>
          <a:lstStyle/>
          <a:p>
            <a:pPr indent="0" marL="0">
              <a:lnSpc>
                <a:spcPct val="102000"/>
              </a:lnSpc>
              <a:buNone/>
            </a:pPr>
            <a:r>
              <a:rPr lang="en-US" sz="1250" dirty="0">
                <a:solidFill>
                  <a:srgbClr val="6B7A78"/>
                </a:solidFill>
                <a:latin typeface="Calibri" pitchFamily="34" charset="0"/>
                <a:ea typeface="Calibri" pitchFamily="34" charset="-122"/>
                <a:cs typeface="Calibri" pitchFamily="34" charset="-120"/>
              </a:rPr>
              <a:t>A través de PaymentGateway; los pagos reales exigen su propio modelo legal, de privacidad y de fraude.</a:t>
            </a:r>
            <a:endParaRPr lang="en-US" sz="1250" dirty="0"/>
          </a:p>
        </p:txBody>
      </p:sp>
      <p:sp>
        <p:nvSpPr>
          <p:cNvPr id="19" name="Shape 17"/>
          <p:cNvSpPr/>
          <p:nvPr/>
        </p:nvSpPr>
        <p:spPr>
          <a:xfrm>
            <a:off x="640080" y="4654296"/>
            <a:ext cx="10881360" cy="777240"/>
          </a:xfrm>
          <a:prstGeom prst="roundRect">
            <a:avLst>
              <a:gd name="adj" fmla="val 9412"/>
            </a:avLst>
          </a:prstGeom>
          <a:solidFill>
            <a:srgbClr val="FFFFFF"/>
          </a:solidFill>
          <a:ln/>
          <a:effectLst>
            <a:outerShdw sx="100000" sy="100000" kx="0" ky="0" algn="bl" rotWithShape="0" blurRad="101600" dist="38100" dir="5400000">
              <a:srgbClr val="9AA8A5">
                <a:alpha val="28000"/>
              </a:srgbClr>
            </a:outerShdw>
          </a:effectLst>
        </p:spPr>
      </p:sp>
      <p:sp>
        <p:nvSpPr>
          <p:cNvPr id="20" name="Shape 18"/>
          <p:cNvSpPr/>
          <p:nvPr/>
        </p:nvSpPr>
        <p:spPr>
          <a:xfrm>
            <a:off x="841248" y="4828032"/>
            <a:ext cx="429768" cy="429768"/>
          </a:xfrm>
          <a:prstGeom prst="ellipse">
            <a:avLst/>
          </a:prstGeom>
          <a:solidFill>
            <a:srgbClr val="69A297"/>
          </a:solidFill>
          <a:ln/>
        </p:spPr>
      </p:sp>
      <p:sp>
        <p:nvSpPr>
          <p:cNvPr id="21" name="Text 19"/>
          <p:cNvSpPr/>
          <p:nvPr/>
        </p:nvSpPr>
        <p:spPr>
          <a:xfrm>
            <a:off x="841248" y="4828032"/>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463040" y="4745736"/>
            <a:ext cx="3840480" cy="59436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Experiencia pública</a:t>
            </a:r>
            <a:endParaRPr lang="en-US" sz="1400" dirty="0"/>
          </a:p>
        </p:txBody>
      </p:sp>
      <p:sp>
        <p:nvSpPr>
          <p:cNvPr id="23" name="Text 21"/>
          <p:cNvSpPr/>
          <p:nvPr/>
        </p:nvSpPr>
        <p:spPr>
          <a:xfrm>
            <a:off x="5394960" y="4745736"/>
            <a:ext cx="5943600" cy="594360"/>
          </a:xfrm>
          <a:prstGeom prst="rect">
            <a:avLst/>
          </a:prstGeom>
          <a:noFill/>
          <a:ln/>
        </p:spPr>
        <p:txBody>
          <a:bodyPr wrap="square" lIns="0" tIns="0" rIns="0" bIns="0" rtlCol="0" anchor="ctr"/>
          <a:lstStyle/>
          <a:p>
            <a:pPr indent="0" marL="0">
              <a:lnSpc>
                <a:spcPct val="102000"/>
              </a:lnSpc>
              <a:buNone/>
            </a:pPr>
            <a:r>
              <a:rPr lang="en-US" sz="1250" dirty="0">
                <a:solidFill>
                  <a:srgbClr val="6B7A78"/>
                </a:solidFill>
                <a:latin typeface="Calibri" pitchFamily="34" charset="0"/>
                <a:ea typeface="Calibri" pitchFamily="34" charset="-122"/>
                <a:cs typeface="Calibri" pitchFamily="34" charset="-120"/>
              </a:rPr>
              <a:t>Información de accesibilidad y filtros no sensibles.</a:t>
            </a:r>
            <a:endParaRPr lang="en-US" sz="1250" dirty="0"/>
          </a:p>
        </p:txBody>
      </p:sp>
      <p:sp>
        <p:nvSpPr>
          <p:cNvPr id="24" name="Shape 22"/>
          <p:cNvSpPr/>
          <p:nvPr/>
        </p:nvSpPr>
        <p:spPr>
          <a:xfrm>
            <a:off x="640080" y="5550408"/>
            <a:ext cx="10881360" cy="777240"/>
          </a:xfrm>
          <a:prstGeom prst="roundRect">
            <a:avLst>
              <a:gd name="adj" fmla="val 9412"/>
            </a:avLst>
          </a:prstGeom>
          <a:solidFill>
            <a:srgbClr val="FFFFFF"/>
          </a:solidFill>
          <a:ln/>
          <a:effectLst>
            <a:outerShdw sx="100000" sy="100000" kx="0" ky="0" algn="bl" rotWithShape="0" blurRad="101600" dist="38100" dir="5400000">
              <a:srgbClr val="9AA8A5">
                <a:alpha val="28000"/>
              </a:srgbClr>
            </a:outerShdw>
          </a:effectLst>
        </p:spPr>
      </p:sp>
      <p:sp>
        <p:nvSpPr>
          <p:cNvPr id="25" name="Shape 23"/>
          <p:cNvSpPr/>
          <p:nvPr/>
        </p:nvSpPr>
        <p:spPr>
          <a:xfrm>
            <a:off x="841248" y="5724144"/>
            <a:ext cx="429768" cy="429768"/>
          </a:xfrm>
          <a:prstGeom prst="ellipse">
            <a:avLst/>
          </a:prstGeom>
          <a:solidFill>
            <a:srgbClr val="69A297"/>
          </a:solidFill>
          <a:ln/>
        </p:spPr>
      </p:sp>
      <p:sp>
        <p:nvSpPr>
          <p:cNvPr id="26" name="Text 24"/>
          <p:cNvSpPr/>
          <p:nvPr/>
        </p:nvSpPr>
        <p:spPr>
          <a:xfrm>
            <a:off x="841248" y="5724144"/>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463040" y="5641848"/>
            <a:ext cx="3840480" cy="594360"/>
          </a:xfrm>
          <a:prstGeom prst="rect">
            <a:avLst/>
          </a:prstGeom>
          <a:noFill/>
          <a:ln/>
        </p:spPr>
        <p:txBody>
          <a:bodyPr wrap="square" lIns="0" tIns="0" rIns="0" bIns="0" rtlCol="0" anchor="ctr"/>
          <a:lstStyle/>
          <a:p>
            <a:pPr indent="0" marL="0">
              <a:buNone/>
            </a:pPr>
            <a:r>
              <a:rPr lang="en-US" sz="1400" b="1" dirty="0">
                <a:solidFill>
                  <a:srgbClr val="2F4A4E"/>
                </a:solidFill>
                <a:latin typeface="Calibri" pitchFamily="34" charset="0"/>
                <a:ea typeface="Calibri" pitchFamily="34" charset="-122"/>
                <a:cs typeface="Calibri" pitchFamily="34" charset="-120"/>
              </a:rPr>
              <a:t>Controles operativos</a:t>
            </a:r>
            <a:endParaRPr lang="en-US" sz="1400" dirty="0"/>
          </a:p>
        </p:txBody>
      </p:sp>
      <p:sp>
        <p:nvSpPr>
          <p:cNvPr id="28" name="Text 26"/>
          <p:cNvSpPr/>
          <p:nvPr/>
        </p:nvSpPr>
        <p:spPr>
          <a:xfrm>
            <a:off x="5394960" y="5641848"/>
            <a:ext cx="5943600" cy="594360"/>
          </a:xfrm>
          <a:prstGeom prst="rect">
            <a:avLst/>
          </a:prstGeom>
          <a:noFill/>
          <a:ln/>
        </p:spPr>
        <p:txBody>
          <a:bodyPr wrap="square" lIns="0" tIns="0" rIns="0" bIns="0" rtlCol="0" anchor="ctr"/>
          <a:lstStyle/>
          <a:p>
            <a:pPr indent="0" marL="0">
              <a:lnSpc>
                <a:spcPct val="102000"/>
              </a:lnSpc>
              <a:buNone/>
            </a:pPr>
            <a:r>
              <a:rPr lang="en-US" sz="1250" dirty="0">
                <a:solidFill>
                  <a:srgbClr val="6B7A78"/>
                </a:solidFill>
                <a:latin typeface="Calibri" pitchFamily="34" charset="0"/>
                <a:ea typeface="Calibri" pitchFamily="34" charset="-122"/>
                <a:cs typeface="Calibri" pitchFamily="34" charset="-120"/>
              </a:rPr>
              <a:t>Monitorización, respuesta a incidentes, retención/borrado, gobernanza de dependencias.</a:t>
            </a:r>
            <a:endParaRPr lang="en-US" sz="1250" dirty="0"/>
          </a:p>
        </p:txBody>
      </p:sp>
      <p:sp>
        <p:nvSpPr>
          <p:cNvPr id="29" name="Text 27"/>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B2D"/>
        </a:solidFill>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300" kern="0" dirty="0">
                <a:solidFill>
                  <a:srgbClr val="84B59F"/>
                </a:solidFill>
                <a:latin typeface="Calibri" pitchFamily="34" charset="0"/>
                <a:ea typeface="Calibri" pitchFamily="34" charset="-122"/>
                <a:cs typeface="Calibri" pitchFamily="34" charset="-120"/>
              </a:rPr>
              <a:t>CONCLUSIONES</a:t>
            </a:r>
            <a:endParaRPr lang="en-US" sz="1200" dirty="0"/>
          </a:p>
        </p:txBody>
      </p:sp>
      <p:sp>
        <p:nvSpPr>
          <p:cNvPr id="3" name="Text 1"/>
          <p:cNvSpPr/>
          <p:nvPr/>
        </p:nvSpPr>
        <p:spPr>
          <a:xfrm>
            <a:off x="640080" y="841248"/>
            <a:ext cx="10881360" cy="1005840"/>
          </a:xfrm>
          <a:prstGeom prst="rect">
            <a:avLst/>
          </a:prstGeom>
          <a:noFill/>
          <a:ln/>
        </p:spPr>
        <p:txBody>
          <a:bodyPr wrap="square" lIns="0" tIns="0" rIns="0" bIns="0" rtlCol="0" anchor="ctr"/>
          <a:lstStyle/>
          <a:p>
            <a:pPr indent="0" marL="0">
              <a:lnSpc>
                <a:spcPct val="98000"/>
              </a:lnSpc>
              <a:buNone/>
            </a:pPr>
            <a:r>
              <a:rPr lang="en-US" sz="3000" b="1" dirty="0">
                <a:solidFill>
                  <a:srgbClr val="FFFFFF"/>
                </a:solidFill>
                <a:latin typeface="Cambria" pitchFamily="34" charset="0"/>
                <a:ea typeface="Cambria" pitchFamily="34" charset="-122"/>
                <a:cs typeface="Cambria" pitchFamily="34" charset="-120"/>
              </a:rPr>
              <a:t>Un núcleo de coordinación seguro antes que amplitud de features</a:t>
            </a:r>
            <a:endParaRPr lang="en-US" sz="3000" dirty="0"/>
          </a:p>
        </p:txBody>
      </p:sp>
      <p:sp>
        <p:nvSpPr>
          <p:cNvPr id="4" name="Text 2"/>
          <p:cNvSpPr/>
          <p:nvPr/>
        </p:nvSpPr>
        <p:spPr>
          <a:xfrm>
            <a:off x="640080" y="2103120"/>
            <a:ext cx="10881360" cy="2743200"/>
          </a:xfrm>
          <a:prstGeom prst="rect">
            <a:avLst/>
          </a:prstGeom>
          <a:noFill/>
          <a:ln/>
        </p:spPr>
        <p:txBody>
          <a:bodyPr wrap="square" lIns="0" tIns="0" rIns="0" bIns="0" rtlCol="0" anchor="t"/>
          <a:lstStyle/>
          <a:p>
            <a:pPr marL="203200" indent="-203200">
              <a:spcAft>
                <a:spcPts val="1300"/>
              </a:spcAft>
              <a:buSzPct val="100000"/>
              <a:buChar char="•"/>
            </a:pPr>
            <a:r>
              <a:rPr lang="en-US" sz="1550" dirty="0">
                <a:solidFill>
                  <a:srgbClr val="E7EEEB"/>
                </a:solidFill>
                <a:latin typeface="Calibri" pitchFamily="34" charset="0"/>
                <a:ea typeface="Calibri" pitchFamily="34" charset="-122"/>
                <a:cs typeface="Calibri" pitchFamily="34" charset="-120"/>
              </a:rPr>
              <a:t>Un problema social puede abordarse con un núcleo acotado, testeable y desplegable.</a:t>
            </a:r>
            <a:endParaRPr lang="en-US" sz="1550" dirty="0"/>
          </a:p>
          <a:p>
            <a:pPr marL="203200" indent="-203200">
              <a:spcAft>
                <a:spcPts val="1300"/>
              </a:spcAft>
              <a:buSzPct val="100000"/>
              <a:buChar char="•"/>
            </a:pPr>
            <a:r>
              <a:rPr lang="en-US" sz="1550" dirty="0">
                <a:solidFill>
                  <a:srgbClr val="E7EEEB"/>
                </a:solidFill>
                <a:latin typeface="Calibri" pitchFamily="34" charset="0"/>
                <a:ea typeface="Calibri" pitchFamily="34" charset="-122"/>
                <a:cs typeface="Calibri" pitchFamily="34" charset="-120"/>
              </a:rPr>
              <a:t>Los estados e invariantes de dominio explícitos hacen revisable la corrección de negocio.</a:t>
            </a:r>
            <a:endParaRPr lang="en-US" sz="1550" dirty="0"/>
          </a:p>
          <a:p>
            <a:pPr marL="203200" indent="-203200">
              <a:spcAft>
                <a:spcPts val="1300"/>
              </a:spcAft>
              <a:buSzPct val="100000"/>
              <a:buChar char="•"/>
            </a:pPr>
            <a:r>
              <a:rPr lang="en-US" sz="1550" dirty="0">
                <a:solidFill>
                  <a:srgbClr val="E7EEEB"/>
                </a:solidFill>
                <a:latin typeface="Calibri" pitchFamily="34" charset="0"/>
                <a:ea typeface="Calibri" pitchFamily="34" charset="-122"/>
                <a:cs typeface="Calibri" pitchFamily="34" charset="-120"/>
              </a:rPr>
              <a:t>Los límites hexagonales mantienen reemplazables framework y persistencia.</a:t>
            </a:r>
            <a:endParaRPr lang="en-US" sz="1550" dirty="0"/>
          </a:p>
          <a:p>
            <a:pPr marL="203200" indent="-203200">
              <a:spcAft>
                <a:spcPts val="1300"/>
              </a:spcAft>
              <a:buSzPct val="100000"/>
              <a:buChar char="•"/>
            </a:pPr>
            <a:r>
              <a:rPr lang="en-US" sz="1550" dirty="0">
                <a:solidFill>
                  <a:srgbClr val="E7EEEB"/>
                </a:solidFill>
                <a:latin typeface="Calibri" pitchFamily="34" charset="0"/>
                <a:ea typeface="Calibri" pitchFamily="34" charset="-122"/>
                <a:cs typeface="Calibri" pitchFamily="34" charset="-120"/>
              </a:rPr>
              <a:t>Concurrencia y minimización de datos públicos son preocupaciones de diseño de primera clase.</a:t>
            </a:r>
            <a:endParaRPr lang="en-US" sz="1550" dirty="0"/>
          </a:p>
          <a:p>
            <a:pPr marL="203200" indent="-203200">
              <a:spcAft>
                <a:spcPts val="1300"/>
              </a:spcAft>
              <a:buSzPct val="100000"/>
              <a:buChar char="•"/>
            </a:pPr>
            <a:r>
              <a:rPr lang="en-US" sz="1550" dirty="0">
                <a:solidFill>
                  <a:srgbClr val="E7EEEB"/>
                </a:solidFill>
                <a:latin typeface="Calibri" pitchFamily="34" charset="0"/>
                <a:ea typeface="Calibri" pitchFamily="34" charset="-122"/>
                <a:cs typeface="Calibri" pitchFamily="34" charset="-120"/>
              </a:rPr>
              <a:t>SDD, tests y revisión adversarial convierten el trabajo asistido por IA en ingeniería inspeccionable.</a:t>
            </a:r>
            <a:endParaRPr lang="en-US" sz="1550" dirty="0"/>
          </a:p>
        </p:txBody>
      </p:sp>
      <p:sp>
        <p:nvSpPr>
          <p:cNvPr id="5" name="Shape 3"/>
          <p:cNvSpPr/>
          <p:nvPr/>
        </p:nvSpPr>
        <p:spPr>
          <a:xfrm>
            <a:off x="640080" y="5212080"/>
            <a:ext cx="10881360" cy="914400"/>
          </a:xfrm>
          <a:prstGeom prst="roundRect">
            <a:avLst>
              <a:gd name="adj" fmla="val 8000"/>
            </a:avLst>
          </a:prstGeom>
          <a:solidFill>
            <a:srgbClr val="27383A"/>
          </a:solidFill>
          <a:ln/>
        </p:spPr>
      </p:sp>
      <p:sp>
        <p:nvSpPr>
          <p:cNvPr id="6" name="Text 4"/>
          <p:cNvSpPr/>
          <p:nvPr/>
        </p:nvSpPr>
        <p:spPr>
          <a:xfrm>
            <a:off x="960120" y="5212080"/>
            <a:ext cx="10241280" cy="914400"/>
          </a:xfrm>
          <a:prstGeom prst="rect">
            <a:avLst/>
          </a:prstGeom>
          <a:noFill/>
          <a:ln/>
        </p:spPr>
        <p:txBody>
          <a:bodyPr wrap="square" lIns="0" tIns="0" rIns="0" bIns="0" rtlCol="0" anchor="ctr"/>
          <a:lstStyle/>
          <a:p>
            <a:pPr indent="0" marL="0">
              <a:lnSpc>
                <a:spcPct val="105000"/>
              </a:lnSpc>
              <a:buNone/>
            </a:pPr>
            <a:r>
              <a:rPr lang="en-US" sz="1700" b="1" i="1" dirty="0">
                <a:solidFill>
                  <a:srgbClr val="FFFFFF"/>
                </a:solidFill>
                <a:latin typeface="Cambria" pitchFamily="34" charset="0"/>
                <a:ea typeface="Cambria" pitchFamily="34" charset="-122"/>
                <a:cs typeface="Cambria" pitchFamily="34" charset="-120"/>
              </a:rPr>
              <a:t>El proyecto es más fuerte cuando expresa evidencia y riesgos abiertos con la misma precisión que las features terminadas.</a:t>
            </a:r>
            <a:endParaRPr lang="en-US" sz="1700" dirty="0"/>
          </a:p>
        </p:txBody>
      </p:sp>
      <p:sp>
        <p:nvSpPr>
          <p:cNvPr id="7" name="Text 5"/>
          <p:cNvSpPr/>
          <p:nvPr/>
        </p:nvSpPr>
        <p:spPr>
          <a:xfrm>
            <a:off x="11247120" y="6400800"/>
            <a:ext cx="548640" cy="274320"/>
          </a:xfrm>
          <a:prstGeom prst="rect">
            <a:avLst/>
          </a:prstGeom>
          <a:noFill/>
          <a:ln/>
        </p:spPr>
        <p:txBody>
          <a:bodyPr wrap="square" rtlCol="0" anchor="ctr"/>
          <a:lstStyle/>
          <a:p>
            <a:pPr algn="r" indent="0" marL="0">
              <a:buNone/>
            </a:pPr>
            <a:r>
              <a:rPr lang="en-US" sz="1000" dirty="0">
                <a:solidFill>
                  <a:srgbClr val="6B7A7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Vivetutiempo — TFM Defence</dc:title>
  <dc:subject>PptxGenJS Presentation</dc:subject>
  <dc:creator>Vivetutiempo</dc:creator>
  <cp:lastModifiedBy>Vivetutiempo</cp:lastModifiedBy>
  <cp:revision>1</cp:revision>
  <dcterms:created xsi:type="dcterms:W3CDTF">2026-07-27T07:45:42Z</dcterms:created>
  <dcterms:modified xsi:type="dcterms:W3CDTF">2026-07-27T07:45:42Z</dcterms:modified>
</cp:coreProperties>
</file>